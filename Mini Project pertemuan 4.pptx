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7"/>
  </p:notesMasterIdLst>
  <p:sldIdLst>
    <p:sldId id="257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35E3E-4F73-43AD-90E1-7D1F859C207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2DB19CC-22FA-4934-873C-F1B576BE571F}">
      <dgm:prSet/>
      <dgm:spPr/>
      <dgm:t>
        <a:bodyPr/>
        <a:lstStyle/>
        <a:p>
          <a:pPr>
            <a:lnSpc>
              <a:spcPct val="100000"/>
            </a:lnSpc>
          </a:pPr>
          <a:r>
            <a:rPr lang="en-ID" b="0" i="0"/>
            <a:t>Cari 5 country dengan jumlah order terbesar.</a:t>
          </a:r>
          <a:endParaRPr lang="en-US"/>
        </a:p>
      </dgm:t>
    </dgm:pt>
    <dgm:pt modelId="{FB2EC684-6DB4-4B11-B24C-3BD8D6816095}" type="parTrans" cxnId="{7708E140-6C7A-4E81-88B0-2A3762FD4C95}">
      <dgm:prSet/>
      <dgm:spPr/>
      <dgm:t>
        <a:bodyPr/>
        <a:lstStyle/>
        <a:p>
          <a:endParaRPr lang="en-US"/>
        </a:p>
      </dgm:t>
    </dgm:pt>
    <dgm:pt modelId="{DDB4B1F3-E91E-4D93-AE64-65D5DBE6AD58}" type="sibTrans" cxnId="{7708E140-6C7A-4E81-88B0-2A3762FD4C9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50D7F3-1C42-4ACC-805E-BBE6764370C8}">
      <dgm:prSet/>
      <dgm:spPr/>
      <dgm:t>
        <a:bodyPr/>
        <a:lstStyle/>
        <a:p>
          <a:pPr>
            <a:lnSpc>
              <a:spcPct val="100000"/>
            </a:lnSpc>
          </a:pPr>
          <a:r>
            <a:rPr lang="en-ID" b="0" i="0"/>
            <a:t>Cari 5 country dengan jumlah order Complete terbesar.</a:t>
          </a:r>
          <a:endParaRPr lang="en-US"/>
        </a:p>
      </dgm:t>
    </dgm:pt>
    <dgm:pt modelId="{D9C882F0-4058-4797-889D-76F17B0FC822}" type="parTrans" cxnId="{D1B1B144-97A4-46A6-9B0D-D71F87D4FB97}">
      <dgm:prSet/>
      <dgm:spPr/>
      <dgm:t>
        <a:bodyPr/>
        <a:lstStyle/>
        <a:p>
          <a:endParaRPr lang="en-US"/>
        </a:p>
      </dgm:t>
    </dgm:pt>
    <dgm:pt modelId="{9DF5ED22-FABB-4E79-BA0B-E5B01391065E}" type="sibTrans" cxnId="{D1B1B144-97A4-46A6-9B0D-D71F87D4FB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37DA86-5C88-41C4-8B98-271491429A5F}">
      <dgm:prSet/>
      <dgm:spPr/>
      <dgm:t>
        <a:bodyPr/>
        <a:lstStyle/>
        <a:p>
          <a:pPr>
            <a:lnSpc>
              <a:spcPct val="100000"/>
            </a:lnSpc>
          </a:pPr>
          <a:r>
            <a:rPr lang="en-ID" b="0" i="0"/>
            <a:t>Cari distribusi order berdasarkan status.</a:t>
          </a:r>
          <a:endParaRPr lang="en-US"/>
        </a:p>
      </dgm:t>
    </dgm:pt>
    <dgm:pt modelId="{D407F8A4-AC09-4844-9E9E-8B0231FA9E49}" type="parTrans" cxnId="{5BDF0F05-8804-4FE5-A0C6-6C15E81EEF09}">
      <dgm:prSet/>
      <dgm:spPr/>
      <dgm:t>
        <a:bodyPr/>
        <a:lstStyle/>
        <a:p>
          <a:endParaRPr lang="en-US"/>
        </a:p>
      </dgm:t>
    </dgm:pt>
    <dgm:pt modelId="{673194D6-2A64-4E9B-B2D1-EBE3EEC48F6E}" type="sibTrans" cxnId="{5BDF0F05-8804-4FE5-A0C6-6C15E81EEF0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A268EA1-60B3-4E28-9EF4-95C9A0281C64}">
      <dgm:prSet/>
      <dgm:spPr/>
      <dgm:t>
        <a:bodyPr/>
        <a:lstStyle/>
        <a:p>
          <a:pPr>
            <a:lnSpc>
              <a:spcPct val="100000"/>
            </a:lnSpc>
          </a:pPr>
          <a:r>
            <a:rPr lang="en-ID" b="0" i="0" dirty="0"/>
            <a:t>Cari country yang </a:t>
          </a:r>
          <a:r>
            <a:rPr lang="en-ID" b="0" i="0" dirty="0" err="1"/>
            <a:t>memiliki</a:t>
          </a:r>
          <a:r>
            <a:rPr lang="en-ID" b="0" i="0" dirty="0"/>
            <a:t> </a:t>
          </a:r>
          <a:r>
            <a:rPr lang="en-ID" b="0" i="0" dirty="0" err="1"/>
            <a:t>jumlah</a:t>
          </a:r>
          <a:r>
            <a:rPr lang="en-ID" b="0" i="0" dirty="0"/>
            <a:t> Complete order minimal 100.</a:t>
          </a:r>
          <a:endParaRPr lang="en-US" dirty="0"/>
        </a:p>
      </dgm:t>
    </dgm:pt>
    <dgm:pt modelId="{5D48CF1A-FB9C-4683-AA88-F4B19CF19B20}" type="parTrans" cxnId="{B690C323-AD13-42B8-9D27-D7D861483DE1}">
      <dgm:prSet/>
      <dgm:spPr/>
      <dgm:t>
        <a:bodyPr/>
        <a:lstStyle/>
        <a:p>
          <a:endParaRPr lang="en-US"/>
        </a:p>
      </dgm:t>
    </dgm:pt>
    <dgm:pt modelId="{2A462856-FAA1-4E7E-AEF3-4AA1A0CE4246}" type="sibTrans" cxnId="{B690C323-AD13-42B8-9D27-D7D861483DE1}">
      <dgm:prSet/>
      <dgm:spPr/>
      <dgm:t>
        <a:bodyPr/>
        <a:lstStyle/>
        <a:p>
          <a:endParaRPr lang="en-US"/>
        </a:p>
      </dgm:t>
    </dgm:pt>
    <dgm:pt modelId="{214DF3D0-0580-40C4-8C25-D2CC993829C5}" type="pres">
      <dgm:prSet presAssocID="{A3035E3E-4F73-43AD-90E1-7D1F859C207A}" presName="root" presStyleCnt="0">
        <dgm:presLayoutVars>
          <dgm:dir/>
          <dgm:resizeHandles val="exact"/>
        </dgm:presLayoutVars>
      </dgm:prSet>
      <dgm:spPr/>
    </dgm:pt>
    <dgm:pt modelId="{E4C5819A-D1E8-4A35-B258-F538844D5B17}" type="pres">
      <dgm:prSet presAssocID="{A3035E3E-4F73-43AD-90E1-7D1F859C207A}" presName="container" presStyleCnt="0">
        <dgm:presLayoutVars>
          <dgm:dir/>
          <dgm:resizeHandles val="exact"/>
        </dgm:presLayoutVars>
      </dgm:prSet>
      <dgm:spPr/>
    </dgm:pt>
    <dgm:pt modelId="{F30B0DF8-07B5-49F7-A38F-4A729316F49E}" type="pres">
      <dgm:prSet presAssocID="{E2DB19CC-22FA-4934-873C-F1B576BE571F}" presName="compNode" presStyleCnt="0"/>
      <dgm:spPr/>
    </dgm:pt>
    <dgm:pt modelId="{A3303308-8A51-435D-8BFF-8747E4F7812C}" type="pres">
      <dgm:prSet presAssocID="{E2DB19CC-22FA-4934-873C-F1B576BE571F}" presName="iconBgRect" presStyleLbl="bgShp" presStyleIdx="0" presStyleCnt="4"/>
      <dgm:spPr/>
    </dgm:pt>
    <dgm:pt modelId="{790E120F-294F-4DCE-9890-F32592C75736}" type="pres">
      <dgm:prSet presAssocID="{E2DB19CC-22FA-4934-873C-F1B576BE571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C90FB8DF-6B56-4845-80DF-6EF5C98C18A6}" type="pres">
      <dgm:prSet presAssocID="{E2DB19CC-22FA-4934-873C-F1B576BE571F}" presName="spaceRect" presStyleCnt="0"/>
      <dgm:spPr/>
    </dgm:pt>
    <dgm:pt modelId="{6E467A9C-D79C-4141-98A5-848152CF34BE}" type="pres">
      <dgm:prSet presAssocID="{E2DB19CC-22FA-4934-873C-F1B576BE571F}" presName="textRect" presStyleLbl="revTx" presStyleIdx="0" presStyleCnt="4">
        <dgm:presLayoutVars>
          <dgm:chMax val="1"/>
          <dgm:chPref val="1"/>
        </dgm:presLayoutVars>
      </dgm:prSet>
      <dgm:spPr/>
    </dgm:pt>
    <dgm:pt modelId="{63C29DAE-E8E6-422C-9AF0-CBBCA4C6FB2E}" type="pres">
      <dgm:prSet presAssocID="{DDB4B1F3-E91E-4D93-AE64-65D5DBE6AD58}" presName="sibTrans" presStyleLbl="sibTrans2D1" presStyleIdx="0" presStyleCnt="0"/>
      <dgm:spPr/>
    </dgm:pt>
    <dgm:pt modelId="{94B7DA8B-59A7-4442-98FF-30B8ED2D0AED}" type="pres">
      <dgm:prSet presAssocID="{3450D7F3-1C42-4ACC-805E-BBE6764370C8}" presName="compNode" presStyleCnt="0"/>
      <dgm:spPr/>
    </dgm:pt>
    <dgm:pt modelId="{9D7A34C4-79B0-480E-8B11-323341FD2380}" type="pres">
      <dgm:prSet presAssocID="{3450D7F3-1C42-4ACC-805E-BBE6764370C8}" presName="iconBgRect" presStyleLbl="bgShp" presStyleIdx="1" presStyleCnt="4"/>
      <dgm:spPr/>
    </dgm:pt>
    <dgm:pt modelId="{B80BA40C-18D5-49B8-969F-14A31432A0D7}" type="pres">
      <dgm:prSet presAssocID="{3450D7F3-1C42-4ACC-805E-BBE6764370C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sia-Australia"/>
        </a:ext>
      </dgm:extLst>
    </dgm:pt>
    <dgm:pt modelId="{CA962C16-1392-4D12-A600-518C6C6C7A57}" type="pres">
      <dgm:prSet presAssocID="{3450D7F3-1C42-4ACC-805E-BBE6764370C8}" presName="spaceRect" presStyleCnt="0"/>
      <dgm:spPr/>
    </dgm:pt>
    <dgm:pt modelId="{3D705D33-B4AB-4E13-AC44-70435E676717}" type="pres">
      <dgm:prSet presAssocID="{3450D7F3-1C42-4ACC-805E-BBE6764370C8}" presName="textRect" presStyleLbl="revTx" presStyleIdx="1" presStyleCnt="4">
        <dgm:presLayoutVars>
          <dgm:chMax val="1"/>
          <dgm:chPref val="1"/>
        </dgm:presLayoutVars>
      </dgm:prSet>
      <dgm:spPr/>
    </dgm:pt>
    <dgm:pt modelId="{A675476B-FD46-4DA3-996B-22707F086F18}" type="pres">
      <dgm:prSet presAssocID="{9DF5ED22-FABB-4E79-BA0B-E5B01391065E}" presName="sibTrans" presStyleLbl="sibTrans2D1" presStyleIdx="0" presStyleCnt="0"/>
      <dgm:spPr/>
    </dgm:pt>
    <dgm:pt modelId="{EFB967C2-3578-4DD3-87D0-C0074B7271DB}" type="pres">
      <dgm:prSet presAssocID="{D437DA86-5C88-41C4-8B98-271491429A5F}" presName="compNode" presStyleCnt="0"/>
      <dgm:spPr/>
    </dgm:pt>
    <dgm:pt modelId="{6E0852E3-4D06-4628-9838-97838B29F022}" type="pres">
      <dgm:prSet presAssocID="{D437DA86-5C88-41C4-8B98-271491429A5F}" presName="iconBgRect" presStyleLbl="bgShp" presStyleIdx="2" presStyleCnt="4"/>
      <dgm:spPr/>
    </dgm:pt>
    <dgm:pt modelId="{0B6FBAD7-C253-413A-A608-02F9A1D3F723}" type="pres">
      <dgm:prSet presAssocID="{D437DA86-5C88-41C4-8B98-271491429A5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04594278-CC60-419A-9E3F-4DA3C7A063BD}" type="pres">
      <dgm:prSet presAssocID="{D437DA86-5C88-41C4-8B98-271491429A5F}" presName="spaceRect" presStyleCnt="0"/>
      <dgm:spPr/>
    </dgm:pt>
    <dgm:pt modelId="{57D338B9-DA32-4686-97C6-EB9D47E1F000}" type="pres">
      <dgm:prSet presAssocID="{D437DA86-5C88-41C4-8B98-271491429A5F}" presName="textRect" presStyleLbl="revTx" presStyleIdx="2" presStyleCnt="4">
        <dgm:presLayoutVars>
          <dgm:chMax val="1"/>
          <dgm:chPref val="1"/>
        </dgm:presLayoutVars>
      </dgm:prSet>
      <dgm:spPr/>
    </dgm:pt>
    <dgm:pt modelId="{1F15B79B-7F56-4AC4-A13F-E46C9444AAB2}" type="pres">
      <dgm:prSet presAssocID="{673194D6-2A64-4E9B-B2D1-EBE3EEC48F6E}" presName="sibTrans" presStyleLbl="sibTrans2D1" presStyleIdx="0" presStyleCnt="0"/>
      <dgm:spPr/>
    </dgm:pt>
    <dgm:pt modelId="{6B87380D-2E88-484B-AD98-928769EF7A56}" type="pres">
      <dgm:prSet presAssocID="{2A268EA1-60B3-4E28-9EF4-95C9A0281C64}" presName="compNode" presStyleCnt="0"/>
      <dgm:spPr/>
    </dgm:pt>
    <dgm:pt modelId="{A688DE9A-74AE-4EE6-BE09-1367E0455672}" type="pres">
      <dgm:prSet presAssocID="{2A268EA1-60B3-4E28-9EF4-95C9A0281C64}" presName="iconBgRect" presStyleLbl="bgShp" presStyleIdx="3" presStyleCnt="4"/>
      <dgm:spPr/>
    </dgm:pt>
    <dgm:pt modelId="{49C54CDC-84DF-4E5C-A6EF-71B9FBBCAC35}" type="pres">
      <dgm:prSet presAssocID="{2A268EA1-60B3-4E28-9EF4-95C9A0281C6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C4B2D56-AE3B-4658-BAA7-857AE7B337F9}" type="pres">
      <dgm:prSet presAssocID="{2A268EA1-60B3-4E28-9EF4-95C9A0281C64}" presName="spaceRect" presStyleCnt="0"/>
      <dgm:spPr/>
    </dgm:pt>
    <dgm:pt modelId="{6462DE36-826C-4F4C-BA5B-8FFEAEBCB467}" type="pres">
      <dgm:prSet presAssocID="{2A268EA1-60B3-4E28-9EF4-95C9A0281C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BDF0F05-8804-4FE5-A0C6-6C15E81EEF09}" srcId="{A3035E3E-4F73-43AD-90E1-7D1F859C207A}" destId="{D437DA86-5C88-41C4-8B98-271491429A5F}" srcOrd="2" destOrd="0" parTransId="{D407F8A4-AC09-4844-9E9E-8B0231FA9E49}" sibTransId="{673194D6-2A64-4E9B-B2D1-EBE3EEC48F6E}"/>
    <dgm:cxn modelId="{B690C323-AD13-42B8-9D27-D7D861483DE1}" srcId="{A3035E3E-4F73-43AD-90E1-7D1F859C207A}" destId="{2A268EA1-60B3-4E28-9EF4-95C9A0281C64}" srcOrd="3" destOrd="0" parTransId="{5D48CF1A-FB9C-4683-AA88-F4B19CF19B20}" sibTransId="{2A462856-FAA1-4E7E-AEF3-4AA1A0CE4246}"/>
    <dgm:cxn modelId="{4BA3862D-0ACB-4D5D-B958-C61033822E9F}" type="presOf" srcId="{D437DA86-5C88-41C4-8B98-271491429A5F}" destId="{57D338B9-DA32-4686-97C6-EB9D47E1F000}" srcOrd="0" destOrd="0" presId="urn:microsoft.com/office/officeart/2018/2/layout/IconCircleList"/>
    <dgm:cxn modelId="{7708E140-6C7A-4E81-88B0-2A3762FD4C95}" srcId="{A3035E3E-4F73-43AD-90E1-7D1F859C207A}" destId="{E2DB19CC-22FA-4934-873C-F1B576BE571F}" srcOrd="0" destOrd="0" parTransId="{FB2EC684-6DB4-4B11-B24C-3BD8D6816095}" sibTransId="{DDB4B1F3-E91E-4D93-AE64-65D5DBE6AD58}"/>
    <dgm:cxn modelId="{D1B1B144-97A4-46A6-9B0D-D71F87D4FB97}" srcId="{A3035E3E-4F73-43AD-90E1-7D1F859C207A}" destId="{3450D7F3-1C42-4ACC-805E-BBE6764370C8}" srcOrd="1" destOrd="0" parTransId="{D9C882F0-4058-4797-889D-76F17B0FC822}" sibTransId="{9DF5ED22-FABB-4E79-BA0B-E5B01391065E}"/>
    <dgm:cxn modelId="{E8101D87-93ED-4872-8C3A-2300690416D1}" type="presOf" srcId="{DDB4B1F3-E91E-4D93-AE64-65D5DBE6AD58}" destId="{63C29DAE-E8E6-422C-9AF0-CBBCA4C6FB2E}" srcOrd="0" destOrd="0" presId="urn:microsoft.com/office/officeart/2018/2/layout/IconCircleList"/>
    <dgm:cxn modelId="{31D4889E-0CFE-4D18-B253-E5892DD2631F}" type="presOf" srcId="{9DF5ED22-FABB-4E79-BA0B-E5B01391065E}" destId="{A675476B-FD46-4DA3-996B-22707F086F18}" srcOrd="0" destOrd="0" presId="urn:microsoft.com/office/officeart/2018/2/layout/IconCircleList"/>
    <dgm:cxn modelId="{7A0923C4-384A-4FB0-B778-54CF63CCF913}" type="presOf" srcId="{E2DB19CC-22FA-4934-873C-F1B576BE571F}" destId="{6E467A9C-D79C-4141-98A5-848152CF34BE}" srcOrd="0" destOrd="0" presId="urn:microsoft.com/office/officeart/2018/2/layout/IconCircleList"/>
    <dgm:cxn modelId="{29AC3DD0-356D-4599-8F3C-93B13B61945C}" type="presOf" srcId="{2A268EA1-60B3-4E28-9EF4-95C9A0281C64}" destId="{6462DE36-826C-4F4C-BA5B-8FFEAEBCB467}" srcOrd="0" destOrd="0" presId="urn:microsoft.com/office/officeart/2018/2/layout/IconCircleList"/>
    <dgm:cxn modelId="{C56786DE-BA7B-4C75-BAB0-35789F22DFB4}" type="presOf" srcId="{673194D6-2A64-4E9B-B2D1-EBE3EEC48F6E}" destId="{1F15B79B-7F56-4AC4-A13F-E46C9444AAB2}" srcOrd="0" destOrd="0" presId="urn:microsoft.com/office/officeart/2018/2/layout/IconCircleList"/>
    <dgm:cxn modelId="{A9F02BE2-9D2B-4048-91B5-BD9F3AEFF11A}" type="presOf" srcId="{3450D7F3-1C42-4ACC-805E-BBE6764370C8}" destId="{3D705D33-B4AB-4E13-AC44-70435E676717}" srcOrd="0" destOrd="0" presId="urn:microsoft.com/office/officeart/2018/2/layout/IconCircleList"/>
    <dgm:cxn modelId="{44A44BE7-297F-43F2-9B52-BE9EC695A3C1}" type="presOf" srcId="{A3035E3E-4F73-43AD-90E1-7D1F859C207A}" destId="{214DF3D0-0580-40C4-8C25-D2CC993829C5}" srcOrd="0" destOrd="0" presId="urn:microsoft.com/office/officeart/2018/2/layout/IconCircleList"/>
    <dgm:cxn modelId="{A8CB8775-B96E-4104-852F-C52CA5264372}" type="presParOf" srcId="{214DF3D0-0580-40C4-8C25-D2CC993829C5}" destId="{E4C5819A-D1E8-4A35-B258-F538844D5B17}" srcOrd="0" destOrd="0" presId="urn:microsoft.com/office/officeart/2018/2/layout/IconCircleList"/>
    <dgm:cxn modelId="{AAE91D7E-EDA4-40F4-8D21-37710EE7111F}" type="presParOf" srcId="{E4C5819A-D1E8-4A35-B258-F538844D5B17}" destId="{F30B0DF8-07B5-49F7-A38F-4A729316F49E}" srcOrd="0" destOrd="0" presId="urn:microsoft.com/office/officeart/2018/2/layout/IconCircleList"/>
    <dgm:cxn modelId="{1A14FD4B-0DC9-4456-A551-EA7AE266DA39}" type="presParOf" srcId="{F30B0DF8-07B5-49F7-A38F-4A729316F49E}" destId="{A3303308-8A51-435D-8BFF-8747E4F7812C}" srcOrd="0" destOrd="0" presId="urn:microsoft.com/office/officeart/2018/2/layout/IconCircleList"/>
    <dgm:cxn modelId="{C5B57C8F-0E6E-4922-99B5-FF7501BD9B8F}" type="presParOf" srcId="{F30B0DF8-07B5-49F7-A38F-4A729316F49E}" destId="{790E120F-294F-4DCE-9890-F32592C75736}" srcOrd="1" destOrd="0" presId="urn:microsoft.com/office/officeart/2018/2/layout/IconCircleList"/>
    <dgm:cxn modelId="{BF0A2A63-6D99-4AE8-9630-E466833F1579}" type="presParOf" srcId="{F30B0DF8-07B5-49F7-A38F-4A729316F49E}" destId="{C90FB8DF-6B56-4845-80DF-6EF5C98C18A6}" srcOrd="2" destOrd="0" presId="urn:microsoft.com/office/officeart/2018/2/layout/IconCircleList"/>
    <dgm:cxn modelId="{6190A112-2747-4556-9D94-8387D56A7088}" type="presParOf" srcId="{F30B0DF8-07B5-49F7-A38F-4A729316F49E}" destId="{6E467A9C-D79C-4141-98A5-848152CF34BE}" srcOrd="3" destOrd="0" presId="urn:microsoft.com/office/officeart/2018/2/layout/IconCircleList"/>
    <dgm:cxn modelId="{9B51FAB6-4656-406E-9FE4-A0899F6593AE}" type="presParOf" srcId="{E4C5819A-D1E8-4A35-B258-F538844D5B17}" destId="{63C29DAE-E8E6-422C-9AF0-CBBCA4C6FB2E}" srcOrd="1" destOrd="0" presId="urn:microsoft.com/office/officeart/2018/2/layout/IconCircleList"/>
    <dgm:cxn modelId="{46C0B364-DE9B-433B-AEC1-0381235C4759}" type="presParOf" srcId="{E4C5819A-D1E8-4A35-B258-F538844D5B17}" destId="{94B7DA8B-59A7-4442-98FF-30B8ED2D0AED}" srcOrd="2" destOrd="0" presId="urn:microsoft.com/office/officeart/2018/2/layout/IconCircleList"/>
    <dgm:cxn modelId="{A877B695-6F98-4A4F-B96A-7E72807D2B91}" type="presParOf" srcId="{94B7DA8B-59A7-4442-98FF-30B8ED2D0AED}" destId="{9D7A34C4-79B0-480E-8B11-323341FD2380}" srcOrd="0" destOrd="0" presId="urn:microsoft.com/office/officeart/2018/2/layout/IconCircleList"/>
    <dgm:cxn modelId="{3EA9408E-8033-43F8-BEE5-AB796A8122DF}" type="presParOf" srcId="{94B7DA8B-59A7-4442-98FF-30B8ED2D0AED}" destId="{B80BA40C-18D5-49B8-969F-14A31432A0D7}" srcOrd="1" destOrd="0" presId="urn:microsoft.com/office/officeart/2018/2/layout/IconCircleList"/>
    <dgm:cxn modelId="{34222947-9746-4574-94FE-C6361CC5B52F}" type="presParOf" srcId="{94B7DA8B-59A7-4442-98FF-30B8ED2D0AED}" destId="{CA962C16-1392-4D12-A600-518C6C6C7A57}" srcOrd="2" destOrd="0" presId="urn:microsoft.com/office/officeart/2018/2/layout/IconCircleList"/>
    <dgm:cxn modelId="{0AA249D5-F7C7-4301-94B4-196E731CAA4F}" type="presParOf" srcId="{94B7DA8B-59A7-4442-98FF-30B8ED2D0AED}" destId="{3D705D33-B4AB-4E13-AC44-70435E676717}" srcOrd="3" destOrd="0" presId="urn:microsoft.com/office/officeart/2018/2/layout/IconCircleList"/>
    <dgm:cxn modelId="{3830D1E9-9936-45C3-BE43-73A32413AAD4}" type="presParOf" srcId="{E4C5819A-D1E8-4A35-B258-F538844D5B17}" destId="{A675476B-FD46-4DA3-996B-22707F086F18}" srcOrd="3" destOrd="0" presId="urn:microsoft.com/office/officeart/2018/2/layout/IconCircleList"/>
    <dgm:cxn modelId="{BFE336B8-097E-45A8-A2E5-4ABF07CC31BF}" type="presParOf" srcId="{E4C5819A-D1E8-4A35-B258-F538844D5B17}" destId="{EFB967C2-3578-4DD3-87D0-C0074B7271DB}" srcOrd="4" destOrd="0" presId="urn:microsoft.com/office/officeart/2018/2/layout/IconCircleList"/>
    <dgm:cxn modelId="{21022690-3895-4DE3-A8A0-0F856119A77B}" type="presParOf" srcId="{EFB967C2-3578-4DD3-87D0-C0074B7271DB}" destId="{6E0852E3-4D06-4628-9838-97838B29F022}" srcOrd="0" destOrd="0" presId="urn:microsoft.com/office/officeart/2018/2/layout/IconCircleList"/>
    <dgm:cxn modelId="{76D58400-B523-4B25-9C8D-887E5C26D93A}" type="presParOf" srcId="{EFB967C2-3578-4DD3-87D0-C0074B7271DB}" destId="{0B6FBAD7-C253-413A-A608-02F9A1D3F723}" srcOrd="1" destOrd="0" presId="urn:microsoft.com/office/officeart/2018/2/layout/IconCircleList"/>
    <dgm:cxn modelId="{20BD805A-01B0-4303-9CC9-9B10A644DB59}" type="presParOf" srcId="{EFB967C2-3578-4DD3-87D0-C0074B7271DB}" destId="{04594278-CC60-419A-9E3F-4DA3C7A063BD}" srcOrd="2" destOrd="0" presId="urn:microsoft.com/office/officeart/2018/2/layout/IconCircleList"/>
    <dgm:cxn modelId="{D126F4A0-DCAB-48F3-8398-FED538392219}" type="presParOf" srcId="{EFB967C2-3578-4DD3-87D0-C0074B7271DB}" destId="{57D338B9-DA32-4686-97C6-EB9D47E1F000}" srcOrd="3" destOrd="0" presId="urn:microsoft.com/office/officeart/2018/2/layout/IconCircleList"/>
    <dgm:cxn modelId="{0B9F4ACD-BA35-4FBF-87F6-A2F52D22602C}" type="presParOf" srcId="{E4C5819A-D1E8-4A35-B258-F538844D5B17}" destId="{1F15B79B-7F56-4AC4-A13F-E46C9444AAB2}" srcOrd="5" destOrd="0" presId="urn:microsoft.com/office/officeart/2018/2/layout/IconCircleList"/>
    <dgm:cxn modelId="{C183439B-1633-4456-9A34-7945EDA2C639}" type="presParOf" srcId="{E4C5819A-D1E8-4A35-B258-F538844D5B17}" destId="{6B87380D-2E88-484B-AD98-928769EF7A56}" srcOrd="6" destOrd="0" presId="urn:microsoft.com/office/officeart/2018/2/layout/IconCircleList"/>
    <dgm:cxn modelId="{E7651919-D2C4-4EF1-A7D3-1FE52A3AEEC1}" type="presParOf" srcId="{6B87380D-2E88-484B-AD98-928769EF7A56}" destId="{A688DE9A-74AE-4EE6-BE09-1367E0455672}" srcOrd="0" destOrd="0" presId="urn:microsoft.com/office/officeart/2018/2/layout/IconCircleList"/>
    <dgm:cxn modelId="{3369A027-6F0E-44C1-89E0-7E5B2A506362}" type="presParOf" srcId="{6B87380D-2E88-484B-AD98-928769EF7A56}" destId="{49C54CDC-84DF-4E5C-A6EF-71B9FBBCAC35}" srcOrd="1" destOrd="0" presId="urn:microsoft.com/office/officeart/2018/2/layout/IconCircleList"/>
    <dgm:cxn modelId="{AE293E8C-EA65-4101-81EA-FABFA81DCD67}" type="presParOf" srcId="{6B87380D-2E88-484B-AD98-928769EF7A56}" destId="{CC4B2D56-AE3B-4658-BAA7-857AE7B337F9}" srcOrd="2" destOrd="0" presId="urn:microsoft.com/office/officeart/2018/2/layout/IconCircleList"/>
    <dgm:cxn modelId="{DE109989-4611-494A-B69D-7EA708D63FF3}" type="presParOf" srcId="{6B87380D-2E88-484B-AD98-928769EF7A56}" destId="{6462DE36-826C-4F4C-BA5B-8FFEAEBCB46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03308-8A51-435D-8BFF-8747E4F7812C}">
      <dsp:nvSpPr>
        <dsp:cNvPr id="0" name=""/>
        <dsp:cNvSpPr/>
      </dsp:nvSpPr>
      <dsp:spPr>
        <a:xfrm>
          <a:off x="276718" y="43630"/>
          <a:ext cx="1369144" cy="13691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0E120F-294F-4DCE-9890-F32592C75736}">
      <dsp:nvSpPr>
        <dsp:cNvPr id="0" name=""/>
        <dsp:cNvSpPr/>
      </dsp:nvSpPr>
      <dsp:spPr>
        <a:xfrm>
          <a:off x="564238" y="331150"/>
          <a:ext cx="794104" cy="794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67A9C-D79C-4141-98A5-848152CF34BE}">
      <dsp:nvSpPr>
        <dsp:cNvPr id="0" name=""/>
        <dsp:cNvSpPr/>
      </dsp:nvSpPr>
      <dsp:spPr>
        <a:xfrm>
          <a:off x="1939251" y="43630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0" i="0" kern="1200"/>
            <a:t>Cari 5 country dengan jumlah order terbesar.</a:t>
          </a:r>
          <a:endParaRPr lang="en-US" sz="2100" kern="1200"/>
        </a:p>
      </dsp:txBody>
      <dsp:txXfrm>
        <a:off x="1939251" y="43630"/>
        <a:ext cx="3227270" cy="1369144"/>
      </dsp:txXfrm>
    </dsp:sp>
    <dsp:sp modelId="{9D7A34C4-79B0-480E-8B11-323341FD2380}">
      <dsp:nvSpPr>
        <dsp:cNvPr id="0" name=""/>
        <dsp:cNvSpPr/>
      </dsp:nvSpPr>
      <dsp:spPr>
        <a:xfrm>
          <a:off x="5728848" y="43630"/>
          <a:ext cx="1369144" cy="136914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BA40C-18D5-49B8-969F-14A31432A0D7}">
      <dsp:nvSpPr>
        <dsp:cNvPr id="0" name=""/>
        <dsp:cNvSpPr/>
      </dsp:nvSpPr>
      <dsp:spPr>
        <a:xfrm>
          <a:off x="6016369" y="331150"/>
          <a:ext cx="794104" cy="794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05D33-B4AB-4E13-AC44-70435E676717}">
      <dsp:nvSpPr>
        <dsp:cNvPr id="0" name=""/>
        <dsp:cNvSpPr/>
      </dsp:nvSpPr>
      <dsp:spPr>
        <a:xfrm>
          <a:off x="7391381" y="43630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0" i="0" kern="1200"/>
            <a:t>Cari 5 country dengan jumlah order Complete terbesar.</a:t>
          </a:r>
          <a:endParaRPr lang="en-US" sz="2100" kern="1200"/>
        </a:p>
      </dsp:txBody>
      <dsp:txXfrm>
        <a:off x="7391381" y="43630"/>
        <a:ext cx="3227270" cy="1369144"/>
      </dsp:txXfrm>
    </dsp:sp>
    <dsp:sp modelId="{6E0852E3-4D06-4628-9838-97838B29F022}">
      <dsp:nvSpPr>
        <dsp:cNvPr id="0" name=""/>
        <dsp:cNvSpPr/>
      </dsp:nvSpPr>
      <dsp:spPr>
        <a:xfrm>
          <a:off x="276718" y="1991502"/>
          <a:ext cx="1369144" cy="136914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FBAD7-C253-413A-A608-02F9A1D3F723}">
      <dsp:nvSpPr>
        <dsp:cNvPr id="0" name=""/>
        <dsp:cNvSpPr/>
      </dsp:nvSpPr>
      <dsp:spPr>
        <a:xfrm>
          <a:off x="564238" y="2279022"/>
          <a:ext cx="794104" cy="794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338B9-DA32-4686-97C6-EB9D47E1F000}">
      <dsp:nvSpPr>
        <dsp:cNvPr id="0" name=""/>
        <dsp:cNvSpPr/>
      </dsp:nvSpPr>
      <dsp:spPr>
        <a:xfrm>
          <a:off x="1939251" y="1991502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0" i="0" kern="1200"/>
            <a:t>Cari distribusi order berdasarkan status.</a:t>
          </a:r>
          <a:endParaRPr lang="en-US" sz="2100" kern="1200"/>
        </a:p>
      </dsp:txBody>
      <dsp:txXfrm>
        <a:off x="1939251" y="1991502"/>
        <a:ext cx="3227270" cy="1369144"/>
      </dsp:txXfrm>
    </dsp:sp>
    <dsp:sp modelId="{A688DE9A-74AE-4EE6-BE09-1367E0455672}">
      <dsp:nvSpPr>
        <dsp:cNvPr id="0" name=""/>
        <dsp:cNvSpPr/>
      </dsp:nvSpPr>
      <dsp:spPr>
        <a:xfrm>
          <a:off x="5728848" y="1991502"/>
          <a:ext cx="1369144" cy="136914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54CDC-84DF-4E5C-A6EF-71B9FBBCAC35}">
      <dsp:nvSpPr>
        <dsp:cNvPr id="0" name=""/>
        <dsp:cNvSpPr/>
      </dsp:nvSpPr>
      <dsp:spPr>
        <a:xfrm>
          <a:off x="6016369" y="2279022"/>
          <a:ext cx="794104" cy="794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2DE36-826C-4F4C-BA5B-8FFEAEBCB467}">
      <dsp:nvSpPr>
        <dsp:cNvPr id="0" name=""/>
        <dsp:cNvSpPr/>
      </dsp:nvSpPr>
      <dsp:spPr>
        <a:xfrm>
          <a:off x="7391381" y="1991502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0" i="0" kern="1200" dirty="0"/>
            <a:t>Cari country yang </a:t>
          </a:r>
          <a:r>
            <a:rPr lang="en-ID" sz="2100" b="0" i="0" kern="1200" dirty="0" err="1"/>
            <a:t>memiliki</a:t>
          </a:r>
          <a:r>
            <a:rPr lang="en-ID" sz="2100" b="0" i="0" kern="1200" dirty="0"/>
            <a:t> </a:t>
          </a:r>
          <a:r>
            <a:rPr lang="en-ID" sz="2100" b="0" i="0" kern="1200" dirty="0" err="1"/>
            <a:t>jumlah</a:t>
          </a:r>
          <a:r>
            <a:rPr lang="en-ID" sz="2100" b="0" i="0" kern="1200" dirty="0"/>
            <a:t> Complete order minimal 100.</a:t>
          </a:r>
          <a:endParaRPr lang="en-US" sz="2100" kern="1200" dirty="0"/>
        </a:p>
      </dsp:txBody>
      <dsp:txXfrm>
        <a:off x="7391381" y="1991502"/>
        <a:ext cx="3227270" cy="1369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B628-1AD1-46E4-82AB-814D669CF27C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CC0B-B876-4244-96C6-BB4E85C2FB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2310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CC0B-B876-4244-96C6-BB4E85C2FB74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2807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763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06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413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119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472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213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208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7092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599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814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6614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2650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4689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4395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0647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0714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890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4E368A1-D6AD-4DA4-AFBA-DAC48F93088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B53CC-C2D6-46A0-9581-08433267034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1613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14F9A-1F24-93F2-CCA7-D253A965D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EBEBEB"/>
                </a:solidFill>
              </a:rPr>
              <a:t>Mini Project </a:t>
            </a:r>
            <a:r>
              <a:rPr lang="en-US" sz="2000">
                <a:solidFill>
                  <a:srgbClr val="EBEBEB"/>
                </a:solidFill>
              </a:rPr>
              <a:t>SQL_Bigquery</a:t>
            </a:r>
            <a:r>
              <a:rPr lang="en-US" sz="2000" dirty="0">
                <a:solidFill>
                  <a:srgbClr val="EBEBEB"/>
                </a:solidFill>
              </a:rPr>
              <a:t> Basic Analysis </a:t>
            </a:r>
            <a:r>
              <a:rPr lang="en-US" sz="2000">
                <a:solidFill>
                  <a:srgbClr val="EBEBEB"/>
                </a:solidFill>
              </a:rPr>
              <a:t>pertemuan</a:t>
            </a:r>
            <a:r>
              <a:rPr lang="en-US" sz="2000" dirty="0">
                <a:solidFill>
                  <a:srgbClr val="EBEBEB"/>
                </a:solidFill>
              </a:rPr>
              <a:t> 4</a:t>
            </a:r>
            <a:br>
              <a:rPr lang="en-US" sz="2000" dirty="0">
                <a:solidFill>
                  <a:srgbClr val="EBEBEB"/>
                </a:solidFill>
              </a:rPr>
            </a:br>
            <a:br>
              <a:rPr lang="en-US" sz="2000" dirty="0">
                <a:solidFill>
                  <a:srgbClr val="EBEBEB"/>
                </a:solidFill>
              </a:rPr>
            </a:br>
            <a:r>
              <a:rPr lang="en-US" sz="2000">
                <a:solidFill>
                  <a:srgbClr val="EBEBEB"/>
                </a:solidFill>
              </a:rPr>
              <a:t>Haslena</a:t>
            </a:r>
            <a:r>
              <a:rPr lang="en-US" sz="2000" dirty="0">
                <a:solidFill>
                  <a:srgbClr val="EBEBEB"/>
                </a:solidFill>
              </a:rPr>
              <a:t> A. Siahaan</a:t>
            </a:r>
            <a:endParaRPr lang="en-ID" sz="2000" dirty="0">
              <a:solidFill>
                <a:srgbClr val="EBEBEB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D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712212-5FB0-5B37-4A17-EBDD76612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49293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0235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4A57-13AB-0888-1BE1-D6E846EFA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3" y="118421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ID" sz="4400" b="1" kern="100" dirty="0"/>
              <a:t>#cari 5 country </a:t>
            </a:r>
            <a:r>
              <a:rPr lang="en-ID" sz="4400" b="1" kern="100" dirty="0" err="1"/>
              <a:t>dengan</a:t>
            </a:r>
            <a:r>
              <a:rPr lang="en-ID" sz="4400" b="1" kern="100" dirty="0"/>
              <a:t> </a:t>
            </a:r>
            <a:r>
              <a:rPr lang="en-ID" sz="4400" b="1" kern="100" dirty="0" err="1"/>
              <a:t>jumlah</a:t>
            </a:r>
            <a:r>
              <a:rPr lang="en-ID" sz="4400" b="1" kern="100" dirty="0"/>
              <a:t> order </a:t>
            </a:r>
            <a:r>
              <a:rPr lang="en-ID" sz="4400" b="1" kern="100" dirty="0" err="1"/>
              <a:t>terbesar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10847-519B-76CF-4CCD-3F8841239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  <a:p>
            <a:r>
              <a:rPr lang="en-ID" dirty="0"/>
              <a:t>QUERY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8732E-1884-E5E4-2C79-87B35C13B79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44129" y="2802194"/>
            <a:ext cx="2674374" cy="345414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SELECT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  </a:t>
            </a:r>
            <a:r>
              <a:rPr lang="en-ID" sz="4400" kern="100" dirty="0" err="1"/>
              <a:t>u.country</a:t>
            </a:r>
            <a:r>
              <a:rPr lang="en-ID" sz="4400" kern="100" dirty="0"/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  COUNT(*) AS </a:t>
            </a:r>
            <a:r>
              <a:rPr lang="en-ID" sz="4400" kern="100" dirty="0" err="1"/>
              <a:t>total_order</a:t>
            </a:r>
            <a:endParaRPr lang="en-ID" sz="4400" kern="1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FROM `</a:t>
            </a:r>
            <a:r>
              <a:rPr lang="en-ID" sz="4400" kern="100" dirty="0" err="1"/>
              <a:t>bigquery</a:t>
            </a:r>
            <a:r>
              <a:rPr lang="en-ID" sz="4400" kern="100" dirty="0"/>
              <a:t>-public-</a:t>
            </a:r>
            <a:r>
              <a:rPr lang="en-ID" sz="4400" kern="100" dirty="0" err="1"/>
              <a:t>data.thelook_ecommerce.orders</a:t>
            </a:r>
            <a:r>
              <a:rPr lang="en-ID" sz="4400" kern="100" dirty="0"/>
              <a:t>` 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JOIN `</a:t>
            </a:r>
            <a:r>
              <a:rPr lang="en-ID" sz="4400" kern="100" dirty="0" err="1"/>
              <a:t>bigquery</a:t>
            </a:r>
            <a:r>
              <a:rPr lang="en-ID" sz="4400" kern="100" dirty="0"/>
              <a:t>-public-</a:t>
            </a:r>
            <a:r>
              <a:rPr lang="en-ID" sz="4400" kern="100" dirty="0" err="1"/>
              <a:t>data.thelook_ecommerce.users</a:t>
            </a:r>
            <a:r>
              <a:rPr lang="en-ID" sz="4400" kern="100" dirty="0"/>
              <a:t>` u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  ON </a:t>
            </a:r>
            <a:r>
              <a:rPr lang="en-ID" sz="4400" kern="100" dirty="0" err="1"/>
              <a:t>o.user_id</a:t>
            </a:r>
            <a:r>
              <a:rPr lang="en-ID" sz="4400" kern="100" dirty="0"/>
              <a:t> = u.id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GROUP BY </a:t>
            </a:r>
            <a:r>
              <a:rPr lang="en-ID" sz="4400" kern="100" dirty="0" err="1"/>
              <a:t>u.country</a:t>
            </a:r>
            <a:endParaRPr lang="en-ID" sz="4400" kern="1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ORDER BY </a:t>
            </a:r>
            <a:r>
              <a:rPr lang="en-ID" sz="4400" kern="100" dirty="0" err="1"/>
              <a:t>total_order</a:t>
            </a:r>
            <a:r>
              <a:rPr lang="en-ID" sz="4400" kern="100" dirty="0"/>
              <a:t> DESC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4400" kern="100" dirty="0"/>
              <a:t>LIMIT 5;</a:t>
            </a:r>
          </a:p>
          <a:p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93A18-BD96-EB97-E0A8-6E4AC7356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RESULTS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89A8C1-6557-6994-9887-4AFA3EFE5A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dirty="0"/>
              <a:t>INSIGHTS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07A734-A810-3D5B-8F87-E0C87AD5D85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072284" y="2667000"/>
            <a:ext cx="2684206" cy="3589338"/>
          </a:xfrm>
        </p:spPr>
        <p:txBody>
          <a:bodyPr>
            <a:normAutofit/>
          </a:bodyPr>
          <a:lstStyle/>
          <a:p>
            <a:r>
              <a:rPr lang="en-ID" sz="1200" dirty="0">
                <a:cs typeface="72 Monospace" panose="020B0509030603020204" pitchFamily="49" charset="0"/>
              </a:rPr>
              <a:t>China </a:t>
            </a:r>
            <a:r>
              <a:rPr lang="en-ID" sz="1200" dirty="0" err="1">
                <a:cs typeface="72 Monospace" panose="020B0509030603020204" pitchFamily="49" charset="0"/>
              </a:rPr>
              <a:t>memiliki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jumlah</a:t>
            </a:r>
            <a:r>
              <a:rPr lang="en-ID" sz="1200" dirty="0">
                <a:cs typeface="72 Monospace" panose="020B0509030603020204" pitchFamily="49" charset="0"/>
              </a:rPr>
              <a:t> order </a:t>
            </a:r>
            <a:r>
              <a:rPr lang="en-ID" sz="1200" dirty="0" err="1">
                <a:cs typeface="72 Monospace" panose="020B0509030603020204" pitchFamily="49" charset="0"/>
              </a:rPr>
              <a:t>tertinggi</a:t>
            </a:r>
            <a:r>
              <a:rPr lang="en-ID" sz="1200" dirty="0">
                <a:cs typeface="72 Monospace" panose="020B0509030603020204" pitchFamily="49" charset="0"/>
              </a:rPr>
              <a:t>, </a:t>
            </a:r>
            <a:r>
              <a:rPr lang="en-ID" sz="1200" dirty="0" err="1">
                <a:cs typeface="72 Monospace" panose="020B0509030603020204" pitchFamily="49" charset="0"/>
              </a:rPr>
              <a:t>yaitu</a:t>
            </a:r>
            <a:r>
              <a:rPr lang="en-ID" sz="1200" dirty="0">
                <a:cs typeface="72 Monospace" panose="020B0509030603020204" pitchFamily="49" charset="0"/>
              </a:rPr>
              <a:t> 42.601 order, </a:t>
            </a:r>
            <a:r>
              <a:rPr lang="en-ID" sz="1200" dirty="0" err="1">
                <a:cs typeface="72 Monospace" panose="020B0509030603020204" pitchFamily="49" charset="0"/>
              </a:rPr>
              <a:t>jauh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lebih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tinggi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dibandingkan</a:t>
            </a:r>
            <a:r>
              <a:rPr lang="en-ID" sz="1200" dirty="0">
                <a:cs typeface="72 Monospace" panose="020B0509030603020204" pitchFamily="49" charset="0"/>
              </a:rPr>
              <a:t> negara </a:t>
            </a:r>
            <a:r>
              <a:rPr lang="en-ID" sz="1200" dirty="0" err="1">
                <a:cs typeface="72 Monospace" panose="020B0509030603020204" pitchFamily="49" charset="0"/>
              </a:rPr>
              <a:t>lainnya</a:t>
            </a:r>
            <a:r>
              <a:rPr lang="en-ID" sz="1200" dirty="0">
                <a:cs typeface="72 Monospace" panose="020B0509030603020204" pitchFamily="49" charset="0"/>
              </a:rPr>
              <a:t>. </a:t>
            </a:r>
          </a:p>
          <a:p>
            <a:r>
              <a:rPr lang="en-ID" sz="1200" dirty="0">
                <a:cs typeface="72 Monospace" panose="020B0509030603020204" pitchFamily="49" charset="0"/>
              </a:rPr>
              <a:t> United States </a:t>
            </a:r>
            <a:r>
              <a:rPr lang="en-ID" sz="1200" dirty="0" err="1">
                <a:cs typeface="72 Monospace" panose="020B0509030603020204" pitchFamily="49" charset="0"/>
              </a:rPr>
              <a:t>berada</a:t>
            </a:r>
            <a:r>
              <a:rPr lang="en-ID" sz="1200" dirty="0">
                <a:cs typeface="72 Monospace" panose="020B0509030603020204" pitchFamily="49" charset="0"/>
              </a:rPr>
              <a:t> di </a:t>
            </a:r>
            <a:r>
              <a:rPr lang="en-ID" sz="1200" dirty="0" err="1">
                <a:cs typeface="72 Monospace" panose="020B0509030603020204" pitchFamily="49" charset="0"/>
              </a:rPr>
              <a:t>posisi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kedua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dengan</a:t>
            </a:r>
            <a:r>
              <a:rPr lang="en-ID" sz="1200" dirty="0">
                <a:cs typeface="72 Monospace" panose="020B0509030603020204" pitchFamily="49" charset="0"/>
              </a:rPr>
              <a:t> 27.751 order, </a:t>
            </a:r>
            <a:r>
              <a:rPr lang="en-ID" sz="1200" dirty="0" err="1">
                <a:cs typeface="72 Monospace" panose="020B0509030603020204" pitchFamily="49" charset="0"/>
              </a:rPr>
              <a:t>sedangkan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Brasil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berada</a:t>
            </a:r>
            <a:r>
              <a:rPr lang="en-ID" sz="1200" dirty="0">
                <a:cs typeface="72 Monospace" panose="020B0509030603020204" pitchFamily="49" charset="0"/>
              </a:rPr>
              <a:t> di </a:t>
            </a:r>
            <a:r>
              <a:rPr lang="en-ID" sz="1200" dirty="0" err="1">
                <a:cs typeface="72 Monospace" panose="020B0509030603020204" pitchFamily="49" charset="0"/>
              </a:rPr>
              <a:t>posisi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ketiga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dengan</a:t>
            </a:r>
            <a:r>
              <a:rPr lang="en-ID" sz="1200" dirty="0">
                <a:cs typeface="72 Monospace" panose="020B0509030603020204" pitchFamily="49" charset="0"/>
              </a:rPr>
              <a:t> 18.603 order. </a:t>
            </a:r>
          </a:p>
          <a:p>
            <a:r>
              <a:rPr lang="en-ID" sz="1200" dirty="0">
                <a:cs typeface="72 Monospace" panose="020B0509030603020204" pitchFamily="49" charset="0"/>
              </a:rPr>
              <a:t>China </a:t>
            </a:r>
            <a:r>
              <a:rPr lang="en-ID" sz="1200" dirty="0" err="1">
                <a:cs typeface="72 Monospace" panose="020B0509030603020204" pitchFamily="49" charset="0"/>
              </a:rPr>
              <a:t>memiliki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sekitar</a:t>
            </a:r>
            <a:r>
              <a:rPr lang="en-ID" sz="1200" dirty="0">
                <a:cs typeface="72 Monospace" panose="020B0509030603020204" pitchFamily="49" charset="0"/>
              </a:rPr>
              <a:t> 1,5× </a:t>
            </a:r>
            <a:r>
              <a:rPr lang="en-ID" sz="1200" dirty="0" err="1">
                <a:cs typeface="72 Monospace" panose="020B0509030603020204" pitchFamily="49" charset="0"/>
              </a:rPr>
              <a:t>jumlah</a:t>
            </a:r>
            <a:r>
              <a:rPr lang="en-ID" sz="1200" dirty="0">
                <a:cs typeface="72 Monospace" panose="020B0509030603020204" pitchFamily="49" charset="0"/>
              </a:rPr>
              <a:t> order United States, </a:t>
            </a:r>
            <a:r>
              <a:rPr lang="en-ID" sz="1200" dirty="0" err="1">
                <a:cs typeface="72 Monospace" panose="020B0509030603020204" pitchFamily="49" charset="0"/>
              </a:rPr>
              <a:t>menunjukkan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bahwa</a:t>
            </a:r>
            <a:r>
              <a:rPr lang="en-ID" sz="1200" dirty="0">
                <a:cs typeface="72 Monospace" panose="020B0509030603020204" pitchFamily="49" charset="0"/>
              </a:rPr>
              <a:t> China </a:t>
            </a:r>
            <a:r>
              <a:rPr lang="en-ID" sz="1200" dirty="0" err="1">
                <a:cs typeface="72 Monospace" panose="020B0509030603020204" pitchFamily="49" charset="0"/>
              </a:rPr>
              <a:t>merupakan</a:t>
            </a:r>
            <a:r>
              <a:rPr lang="en-ID" sz="1200" dirty="0">
                <a:cs typeface="72 Monospace" panose="020B0509030603020204" pitchFamily="49" charset="0"/>
              </a:rPr>
              <a:t> pasar </a:t>
            </a:r>
            <a:r>
              <a:rPr lang="en-ID" sz="1200" dirty="0" err="1">
                <a:cs typeface="72 Monospace" panose="020B0509030603020204" pitchFamily="49" charset="0"/>
              </a:rPr>
              <a:t>dengan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aktivitas</a:t>
            </a:r>
            <a:r>
              <a:rPr lang="en-ID" sz="1200" dirty="0">
                <a:cs typeface="72 Monospace" panose="020B0509030603020204" pitchFamily="49" charset="0"/>
              </a:rPr>
              <a:t> order paling </a:t>
            </a:r>
            <a:r>
              <a:rPr lang="en-ID" sz="1200" dirty="0" err="1">
                <a:cs typeface="72 Monospace" panose="020B0509030603020204" pitchFamily="49" charset="0"/>
              </a:rPr>
              <a:t>tinggi</a:t>
            </a:r>
            <a:r>
              <a:rPr lang="en-ID" sz="1200" dirty="0">
                <a:cs typeface="72 Monospace" panose="020B0509030603020204" pitchFamily="49" charset="0"/>
              </a:rPr>
              <a:t> </a:t>
            </a:r>
            <a:r>
              <a:rPr lang="en-ID" sz="1200" dirty="0" err="1">
                <a:cs typeface="72 Monospace" panose="020B0509030603020204" pitchFamily="49" charset="0"/>
              </a:rPr>
              <a:t>dari</a:t>
            </a:r>
            <a:r>
              <a:rPr lang="en-ID" sz="1200" dirty="0">
                <a:cs typeface="72 Monospace" panose="020B0509030603020204" pitchFamily="49" charset="0"/>
              </a:rPr>
              <a:t> 5 negara </a:t>
            </a:r>
            <a:r>
              <a:rPr lang="en-ID" sz="1200" dirty="0" err="1">
                <a:cs typeface="72 Monospace" panose="020B0509030603020204" pitchFamily="49" charset="0"/>
              </a:rPr>
              <a:t>tersebut</a:t>
            </a:r>
            <a:endParaRPr lang="en-ID" sz="1200" dirty="0">
              <a:cs typeface="72 Monospace" panose="020B0509030603020204" pitchFamily="49" charset="0"/>
            </a:endParaRPr>
          </a:p>
          <a:p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59804-5464-E096-4872-929B06723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76" y="2692655"/>
            <a:ext cx="3293806" cy="345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99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27B1-9286-7578-94A8-31360D7D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/>
              <a:t>#Cari 5 country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jumlah</a:t>
            </a:r>
            <a:r>
              <a:rPr lang="en-ID" b="1" dirty="0"/>
              <a:t> order Complete </a:t>
            </a:r>
            <a:r>
              <a:rPr lang="en-ID" b="1" dirty="0" err="1"/>
              <a:t>terbesar</a:t>
            </a:r>
            <a:r>
              <a:rPr lang="en-ID" b="1" dirty="0"/>
              <a:t>.</a:t>
            </a:r>
            <a:br>
              <a:rPr lang="en-ID" dirty="0"/>
            </a:b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EFAF1-4931-42D8-5603-3CB00106D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61CAB-83FC-7B7E-AAAD-D28F2E83BEFA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dirty="0">
                <a:cs typeface="72 Monospace" panose="020B0509030603020204" pitchFamily="49" charset="0"/>
              </a:rPr>
              <a:t>SELECT</a:t>
            </a:r>
          </a:p>
          <a:p>
            <a:r>
              <a:rPr lang="en-ID" dirty="0">
                <a:cs typeface="72 Monospace" panose="020B0509030603020204" pitchFamily="49" charset="0"/>
              </a:rPr>
              <a:t>  </a:t>
            </a:r>
            <a:r>
              <a:rPr lang="en-ID" dirty="0" err="1">
                <a:cs typeface="72 Monospace" panose="020B0509030603020204" pitchFamily="49" charset="0"/>
              </a:rPr>
              <a:t>u.country</a:t>
            </a:r>
            <a:r>
              <a:rPr lang="en-ID" dirty="0">
                <a:cs typeface="72 Monospace" panose="020B0509030603020204" pitchFamily="49" charset="0"/>
              </a:rPr>
              <a:t>,</a:t>
            </a:r>
          </a:p>
          <a:p>
            <a:r>
              <a:rPr lang="en-ID" dirty="0">
                <a:cs typeface="72 Monospace" panose="020B0509030603020204" pitchFamily="49" charset="0"/>
              </a:rPr>
              <a:t>  </a:t>
            </a:r>
            <a:r>
              <a:rPr lang="en-ID" dirty="0" err="1">
                <a:cs typeface="72 Monospace" panose="020B0509030603020204" pitchFamily="49" charset="0"/>
              </a:rPr>
              <a:t>o.status</a:t>
            </a:r>
            <a:r>
              <a:rPr lang="en-ID" dirty="0">
                <a:cs typeface="72 Monospace" panose="020B0509030603020204" pitchFamily="49" charset="0"/>
              </a:rPr>
              <a:t>,</a:t>
            </a:r>
          </a:p>
          <a:p>
            <a:r>
              <a:rPr lang="en-ID" dirty="0">
                <a:cs typeface="72 Monospace" panose="020B0509030603020204" pitchFamily="49" charset="0"/>
              </a:rPr>
              <a:t>  COUNT(*) AS </a:t>
            </a:r>
            <a:r>
              <a:rPr lang="en-ID" dirty="0" err="1">
                <a:cs typeface="72 Monospace" panose="020B0509030603020204" pitchFamily="49" charset="0"/>
              </a:rPr>
              <a:t>total_order</a:t>
            </a:r>
            <a:endParaRPr lang="en-ID" dirty="0">
              <a:cs typeface="72 Monospace" panose="020B0509030603020204" pitchFamily="49" charset="0"/>
            </a:endParaRPr>
          </a:p>
          <a:p>
            <a:r>
              <a:rPr lang="en-ID" dirty="0">
                <a:cs typeface="72 Monospace" panose="020B0509030603020204" pitchFamily="49" charset="0"/>
              </a:rPr>
              <a:t>FROM `</a:t>
            </a:r>
            <a:r>
              <a:rPr lang="en-ID" dirty="0" err="1">
                <a:cs typeface="72 Monospace" panose="020B0509030603020204" pitchFamily="49" charset="0"/>
              </a:rPr>
              <a:t>bigquery</a:t>
            </a:r>
            <a:r>
              <a:rPr lang="en-ID" dirty="0">
                <a:cs typeface="72 Monospace" panose="020B0509030603020204" pitchFamily="49" charset="0"/>
              </a:rPr>
              <a:t>-public-</a:t>
            </a:r>
            <a:r>
              <a:rPr lang="en-ID" dirty="0" err="1">
                <a:cs typeface="72 Monospace" panose="020B0509030603020204" pitchFamily="49" charset="0"/>
              </a:rPr>
              <a:t>data.thelook_ecommerce.orders</a:t>
            </a:r>
            <a:r>
              <a:rPr lang="en-ID" dirty="0">
                <a:cs typeface="72 Monospace" panose="020B0509030603020204" pitchFamily="49" charset="0"/>
              </a:rPr>
              <a:t>` o</a:t>
            </a:r>
          </a:p>
          <a:p>
            <a:r>
              <a:rPr lang="en-ID" dirty="0">
                <a:cs typeface="72 Monospace" panose="020B0509030603020204" pitchFamily="49" charset="0"/>
              </a:rPr>
              <a:t>JOIN `</a:t>
            </a:r>
            <a:r>
              <a:rPr lang="en-ID" dirty="0" err="1">
                <a:cs typeface="72 Monospace" panose="020B0509030603020204" pitchFamily="49" charset="0"/>
              </a:rPr>
              <a:t>bigquery</a:t>
            </a:r>
            <a:r>
              <a:rPr lang="en-ID" dirty="0">
                <a:cs typeface="72 Monospace" panose="020B0509030603020204" pitchFamily="49" charset="0"/>
              </a:rPr>
              <a:t>-public-</a:t>
            </a:r>
            <a:r>
              <a:rPr lang="en-ID" dirty="0" err="1">
                <a:cs typeface="72 Monospace" panose="020B0509030603020204" pitchFamily="49" charset="0"/>
              </a:rPr>
              <a:t>data.thelook_ecommerce.users</a:t>
            </a:r>
            <a:r>
              <a:rPr lang="en-ID" dirty="0">
                <a:cs typeface="72 Monospace" panose="020B0509030603020204" pitchFamily="49" charset="0"/>
              </a:rPr>
              <a:t>` u</a:t>
            </a:r>
          </a:p>
          <a:p>
            <a:r>
              <a:rPr lang="en-ID" dirty="0">
                <a:cs typeface="72 Monospace" panose="020B0509030603020204" pitchFamily="49" charset="0"/>
              </a:rPr>
              <a:t>  ON </a:t>
            </a:r>
            <a:r>
              <a:rPr lang="en-ID" dirty="0" err="1">
                <a:cs typeface="72 Monospace" panose="020B0509030603020204" pitchFamily="49" charset="0"/>
              </a:rPr>
              <a:t>o.user_id</a:t>
            </a:r>
            <a:r>
              <a:rPr lang="en-ID" dirty="0">
                <a:cs typeface="72 Monospace" panose="020B0509030603020204" pitchFamily="49" charset="0"/>
              </a:rPr>
              <a:t> = u.id</a:t>
            </a:r>
          </a:p>
          <a:p>
            <a:r>
              <a:rPr lang="en-ID" dirty="0">
                <a:cs typeface="72 Monospace" panose="020B0509030603020204" pitchFamily="49" charset="0"/>
              </a:rPr>
              <a:t>WHERE </a:t>
            </a:r>
            <a:r>
              <a:rPr lang="en-ID" dirty="0" err="1">
                <a:cs typeface="72 Monospace" panose="020B0509030603020204" pitchFamily="49" charset="0"/>
              </a:rPr>
              <a:t>o.status</a:t>
            </a:r>
            <a:r>
              <a:rPr lang="en-ID" dirty="0">
                <a:cs typeface="72 Monospace" panose="020B0509030603020204" pitchFamily="49" charset="0"/>
              </a:rPr>
              <a:t> = 'Complete'</a:t>
            </a:r>
          </a:p>
          <a:p>
            <a:r>
              <a:rPr lang="en-ID" dirty="0">
                <a:cs typeface="72 Monospace" panose="020B0509030603020204" pitchFamily="49" charset="0"/>
              </a:rPr>
              <a:t>GROUP BY </a:t>
            </a:r>
            <a:r>
              <a:rPr lang="en-ID" dirty="0" err="1">
                <a:cs typeface="72 Monospace" panose="020B0509030603020204" pitchFamily="49" charset="0"/>
              </a:rPr>
              <a:t>u.country</a:t>
            </a:r>
            <a:r>
              <a:rPr lang="en-ID" dirty="0">
                <a:cs typeface="72 Monospace" panose="020B0509030603020204" pitchFamily="49" charset="0"/>
              </a:rPr>
              <a:t>, </a:t>
            </a:r>
            <a:r>
              <a:rPr lang="en-ID" dirty="0" err="1">
                <a:cs typeface="72 Monospace" panose="020B0509030603020204" pitchFamily="49" charset="0"/>
              </a:rPr>
              <a:t>o.status</a:t>
            </a:r>
            <a:endParaRPr lang="en-ID" dirty="0">
              <a:cs typeface="72 Monospace" panose="020B0509030603020204" pitchFamily="49" charset="0"/>
            </a:endParaRPr>
          </a:p>
          <a:p>
            <a:r>
              <a:rPr lang="en-ID" dirty="0">
                <a:cs typeface="72 Monospace" panose="020B0509030603020204" pitchFamily="49" charset="0"/>
              </a:rPr>
              <a:t>ORDER BY </a:t>
            </a:r>
            <a:r>
              <a:rPr lang="en-ID" dirty="0" err="1">
                <a:cs typeface="72 Monospace" panose="020B0509030603020204" pitchFamily="49" charset="0"/>
              </a:rPr>
              <a:t>total_order</a:t>
            </a:r>
            <a:r>
              <a:rPr lang="en-ID" dirty="0">
                <a:cs typeface="72 Monospace" panose="020B0509030603020204" pitchFamily="49" charset="0"/>
              </a:rPr>
              <a:t> DESC</a:t>
            </a:r>
          </a:p>
          <a:p>
            <a:r>
              <a:rPr lang="en-ID" dirty="0">
                <a:cs typeface="72 Monospace" panose="020B0509030603020204" pitchFamily="49" charset="0"/>
              </a:rPr>
              <a:t>LIMIT 5;</a:t>
            </a:r>
          </a:p>
          <a:p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BE048-BDFA-D251-3080-4C32D6E30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DCE560-7524-4C48-0E18-E895D0304C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0503" y="1981200"/>
            <a:ext cx="2466310" cy="576262"/>
          </a:xfrm>
        </p:spPr>
        <p:txBody>
          <a:bodyPr/>
          <a:lstStyle/>
          <a:p>
            <a:r>
              <a:rPr lang="en-US" dirty="0"/>
              <a:t>INSIGHTS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07D874-D24A-1B2A-32EB-BDB4B28F942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459070" y="2667000"/>
            <a:ext cx="3297420" cy="3589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Dominasi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Pasar Utama oleh China: China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mencatatkan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volume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pesanan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selesai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(</a:t>
            </a:r>
            <a:r>
              <a:rPr lang="en-ID" sz="1800" i="1" kern="100" dirty="0">
                <a:ea typeface="Aptos" panose="020B0004020202020204" pitchFamily="34" charset="0"/>
                <a:cs typeface="72 Monospace" panose="020B0509030603020204" pitchFamily="49" charset="0"/>
              </a:rPr>
              <a:t>status: Complete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)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tertinggi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sebanyak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10.512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pesanan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. Angka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ini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jauh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mengungguli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negara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lainnya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dan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menyumbang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porsi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terbesar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dari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total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pesanan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di lima negara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teratas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Amerika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Serikat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dan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Brasil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Sebagai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Pasar Sektor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Kedua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: United States (6.887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pesanan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) dan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Brasil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(4.725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pesanan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)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menempati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posisi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kedua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dan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ketiga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.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Gabungan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kedua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negara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ini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menunjukkan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kontribusi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signifikan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terhadap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total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akumulasi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pesanan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Gap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Signifikan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Antara Pasar Utama dan Pasar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Berkembang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: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Terdapat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penurunan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volume yang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lumayan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jauh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ketika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memasuki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peringkat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empat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dan lima,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yaitu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 South Korea (1.689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pesanan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) dan France (1.456 </a:t>
            </a:r>
            <a:r>
              <a:rPr lang="en-ID" sz="1800" kern="100" dirty="0" err="1">
                <a:ea typeface="Aptos" panose="020B0004020202020204" pitchFamily="34" charset="0"/>
                <a:cs typeface="72 Monospace" panose="020B0509030603020204" pitchFamily="49" charset="0"/>
              </a:rPr>
              <a:t>pesanan</a:t>
            </a:r>
            <a:r>
              <a:rPr lang="en-ID" sz="1800" kern="100" dirty="0">
                <a:ea typeface="Aptos" panose="020B0004020202020204" pitchFamily="34" charset="0"/>
                <a:cs typeface="72 Monospace" panose="020B0509030603020204" pitchFamily="49" charset="0"/>
              </a:rPr>
              <a:t>).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D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143316-0E96-EB5A-01A6-67169B6E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938" y="2667001"/>
            <a:ext cx="3297419" cy="348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7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5CFD-C30A-5EBB-531E-88430C2E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#Cari </a:t>
            </a:r>
            <a:r>
              <a:rPr lang="en-ID" b="1" dirty="0" err="1"/>
              <a:t>distribusi</a:t>
            </a:r>
            <a:r>
              <a:rPr lang="en-ID" b="1" dirty="0"/>
              <a:t> order </a:t>
            </a:r>
            <a:r>
              <a:rPr lang="en-ID" b="1" dirty="0" err="1"/>
              <a:t>berdasarkan</a:t>
            </a:r>
            <a:r>
              <a:rPr lang="en-ID" b="1" dirty="0"/>
              <a:t> status.</a:t>
            </a:r>
            <a:br>
              <a:rPr lang="en-ID" dirty="0"/>
            </a:b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FFDE0-3D14-3E05-2610-86CA3FB32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DDC39-E2D7-AC0E-137C-9FBAA4C2721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ID" sz="1200" dirty="0"/>
              <a:t>SELECT</a:t>
            </a:r>
          </a:p>
          <a:p>
            <a:r>
              <a:rPr lang="en-ID" sz="1200" dirty="0"/>
              <a:t>status,</a:t>
            </a:r>
          </a:p>
          <a:p>
            <a:r>
              <a:rPr lang="en-ID" sz="1200" dirty="0"/>
              <a:t>COUNT(*) AS </a:t>
            </a:r>
            <a:r>
              <a:rPr lang="en-ID" sz="1200" dirty="0" err="1"/>
              <a:t>total_order</a:t>
            </a:r>
            <a:endParaRPr lang="en-ID" sz="1200" dirty="0"/>
          </a:p>
          <a:p>
            <a:r>
              <a:rPr lang="en-ID" sz="1200" dirty="0"/>
              <a:t>FROM `</a:t>
            </a:r>
            <a:r>
              <a:rPr lang="en-ID" sz="1200" dirty="0" err="1"/>
              <a:t>bigquery</a:t>
            </a:r>
            <a:r>
              <a:rPr lang="en-ID" sz="1200" dirty="0"/>
              <a:t>-public-</a:t>
            </a:r>
            <a:r>
              <a:rPr lang="en-ID" sz="1200" dirty="0" err="1"/>
              <a:t>data.thelook_ecommerce.orders</a:t>
            </a:r>
            <a:r>
              <a:rPr lang="en-ID" sz="1200" dirty="0"/>
              <a:t>`</a:t>
            </a:r>
          </a:p>
          <a:p>
            <a:r>
              <a:rPr lang="en-ID" sz="1200" dirty="0"/>
              <a:t>GROUP BY status</a:t>
            </a:r>
          </a:p>
          <a:p>
            <a:r>
              <a:rPr lang="en-ID" sz="1200" dirty="0"/>
              <a:t>ORDER BY </a:t>
            </a:r>
            <a:r>
              <a:rPr lang="en-ID" sz="1200" dirty="0" err="1"/>
              <a:t>total_order</a:t>
            </a:r>
            <a:r>
              <a:rPr lang="en-ID" sz="1200" dirty="0"/>
              <a:t> DESC;</a:t>
            </a:r>
          </a:p>
          <a:p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7F9F6-184D-AB51-C138-99DAEC77B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75F84E-C2F6-26E2-B52C-D36B3D6956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66629-7D68-118B-0CD3-A62FF97EE5FD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Penyederhanaan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Struktur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Data: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Berbeda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dari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tampilan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sebelumnya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yang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memisah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kolom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status dan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total_order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tabel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ini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langsung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menggabungkannya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ke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dalam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metric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agregat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total_complete_orders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mengonfirmasi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bahwa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seluruh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angka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yang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tampil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khusus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untuk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pesanan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yang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selesai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China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Memimpin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Porsi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Terbesar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: China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tetap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memegang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angka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tertinggi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dengan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10.512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pesanan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selesai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menyumbang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lebih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dari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40%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dari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total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gabungan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lima negara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teratas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( total 25.269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pesanan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Konsentrasi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Transaksi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di Top 3: Tiga negara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teratas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(China, United States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dengan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6.887, dan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Brasil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dengan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4.725)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secara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kolektif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mendominasi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sebagian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besar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volume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pesanan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meninggalkan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South Korea (1.689) dan France (1.456)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jauh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 di </a:t>
            </a:r>
            <a:r>
              <a:rPr lang="en-ID" sz="19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bawah</a:t>
            </a:r>
            <a:r>
              <a:rPr lang="en-ID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900" kern="100" dirty="0"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D" sz="19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730FF6-3359-3923-C29C-ED8525478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922" y="2805336"/>
            <a:ext cx="3195483" cy="298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9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81DC-BBBF-23A4-C0C9-E7A5BD74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#Cari country yang </a:t>
            </a:r>
            <a:r>
              <a:rPr lang="en-US" b="1" dirty="0" err="1"/>
              <a:t>memiliki</a:t>
            </a:r>
            <a:r>
              <a:rPr lang="en-US" b="1" dirty="0"/>
              <a:t> </a:t>
            </a:r>
            <a:r>
              <a:rPr lang="en-US" b="1" dirty="0" err="1"/>
              <a:t>jumlah</a:t>
            </a:r>
            <a:r>
              <a:rPr lang="en-US" b="1" dirty="0"/>
              <a:t> Complete order minimal 100.</a:t>
            </a:r>
            <a:br>
              <a:rPr lang="en-ID" dirty="0"/>
            </a:b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5A301-7087-B436-A012-11036069B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1EED7-C997-BE0F-39ED-0FBC7A786800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u.country</a:t>
            </a:r>
            <a:r>
              <a:rPr lang="en-US" dirty="0"/>
              <a:t>, COUNT(*) AS </a:t>
            </a:r>
            <a:r>
              <a:rPr lang="en-US" dirty="0" err="1"/>
              <a:t>total_complete_order</a:t>
            </a:r>
            <a:r>
              <a:rPr lang="en-US" dirty="0"/>
              <a:t> FROM `</a:t>
            </a:r>
            <a:r>
              <a:rPr lang="en-US" dirty="0" err="1"/>
              <a:t>bigquery</a:t>
            </a:r>
            <a:r>
              <a:rPr lang="en-US" dirty="0"/>
              <a:t>-public-</a:t>
            </a:r>
            <a:r>
              <a:rPr lang="en-US" dirty="0" err="1"/>
              <a:t>data.thelook_ecommerce.orders</a:t>
            </a:r>
            <a:r>
              <a:rPr lang="en-US" dirty="0"/>
              <a:t>` o JOIN `</a:t>
            </a:r>
            <a:r>
              <a:rPr lang="en-US" dirty="0" err="1"/>
              <a:t>bigquery</a:t>
            </a:r>
            <a:r>
              <a:rPr lang="en-US" dirty="0"/>
              <a:t>-public-</a:t>
            </a:r>
            <a:r>
              <a:rPr lang="en-US" dirty="0" err="1"/>
              <a:t>data.thelook_ecommerce.users</a:t>
            </a:r>
            <a:r>
              <a:rPr lang="en-US" dirty="0"/>
              <a:t>` u ON </a:t>
            </a:r>
            <a:r>
              <a:rPr lang="en-US" dirty="0" err="1"/>
              <a:t>o.user_id</a:t>
            </a:r>
            <a:r>
              <a:rPr lang="en-US" dirty="0"/>
              <a:t> = u.id WHERE </a:t>
            </a:r>
            <a:r>
              <a:rPr lang="en-US" dirty="0" err="1"/>
              <a:t>o.status</a:t>
            </a:r>
            <a:r>
              <a:rPr lang="en-US" dirty="0"/>
              <a:t> = 'Complete' GROUP BY </a:t>
            </a:r>
            <a:r>
              <a:rPr lang="en-US" dirty="0" err="1"/>
              <a:t>u.country</a:t>
            </a:r>
            <a:r>
              <a:rPr lang="en-US" dirty="0"/>
              <a:t> HAVING COUNT(*) &gt;= 100 ORDER BY </a:t>
            </a:r>
            <a:r>
              <a:rPr lang="en-US" dirty="0" err="1"/>
              <a:t>total_complete_order</a:t>
            </a:r>
            <a:r>
              <a:rPr lang="en-US" dirty="0"/>
              <a:t> DESC;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501D1B-1496-D32E-AD14-DB10E8191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04AC3B-E40A-6C85-69BB-4B8D8A850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INSIGHTS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0BCA7E-BF0F-B67A-FA24-01029E86A90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157013" y="2697704"/>
            <a:ext cx="2932113" cy="358933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Terdapat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beberapa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country yang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memiliki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minimal 100 Complete order,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menunjukkan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bahwa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negara-negara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tersebut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memiliki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jumlah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transaksi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yang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cukup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tinggi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Country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dengan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jumlah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Complete order paling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tinggi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menjadi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negara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dengan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kontribusi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order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terbesar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dibandingkan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country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lainnya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Perbedaan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jumlah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Complete order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antar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-country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cukup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terlihat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sehingga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terdapat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negara yang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memiliki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aktivitas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pembelian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lebih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tinggi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dibandingkan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 negara </a:t>
            </a:r>
            <a:r>
              <a:rPr lang="en-ID" sz="12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lainnya</a:t>
            </a:r>
            <a:r>
              <a:rPr lang="en-ID" sz="1200" kern="100" dirty="0"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0CFB30-831A-74D8-3AD1-6F70BB103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090" y="2633765"/>
            <a:ext cx="3215149" cy="362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9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1762</TotalTime>
  <Words>692</Words>
  <Application>Microsoft Office PowerPoint</Application>
  <PresentationFormat>Widescreen</PresentationFormat>
  <Paragraphs>64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72 Monospace</vt:lpstr>
      <vt:lpstr>Aptos</vt:lpstr>
      <vt:lpstr>Century Gothic</vt:lpstr>
      <vt:lpstr>Wingdings 3</vt:lpstr>
      <vt:lpstr>Ion</vt:lpstr>
      <vt:lpstr>Mini Project SQL_Bigquery Basic Analysis pertemuan 4  Haslena A. Siahaan</vt:lpstr>
      <vt:lpstr>#cari 5 country dengan jumlah order terbesar</vt:lpstr>
      <vt:lpstr>#Cari 5 country dengan jumlah order Complete terbesar. </vt:lpstr>
      <vt:lpstr>#Cari distribusi order berdasarkan status. </vt:lpstr>
      <vt:lpstr>#Cari country yang memiliki jumlah Complete order minimal 100.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Lena siahaan</dc:creator>
  <cp:lastModifiedBy>Lena siahaan</cp:lastModifiedBy>
  <cp:revision>9</cp:revision>
  <dcterms:created xsi:type="dcterms:W3CDTF">2026-09-15T03:03:59Z</dcterms:created>
  <dcterms:modified xsi:type="dcterms:W3CDTF">2026-09-16T08:28:26Z</dcterms:modified>
</cp:coreProperties>
</file>