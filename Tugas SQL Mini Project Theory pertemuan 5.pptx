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9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549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21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677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1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622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286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724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0176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018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5652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0274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368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6FE31B0-7BE7-40DE-88E9-9528154AD7BB}" type="datetimeFigureOut">
              <a:rPr lang="en-ID" smtClean="0"/>
              <a:t>16/09/2026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4207E-F37C-4313-B028-8D3010161AB8}" type="slidenum">
              <a:rPr lang="en-ID" smtClean="0"/>
              <a:t>‹#›</a:t>
            </a:fld>
            <a:endParaRPr lang="en-ID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99779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01AF5FBB-9FDC-4D75-9DD6-DAF01ED19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33BBBE6-F4CF-483E-BA74-B51421B4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4C790028-99AE-4AE4-8269-9913E2D50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936A2A-FE08-4EE0-A409-3EF3FA244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F0989E-BFBB-43E4-927B-2C51C7AE2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ACA2469-91AA-459B-A5DD-8FFC0F70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860FD2-CA19-4064-AA6F-68050C3D2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4D7E45EB-2082-42A1-A5FC-6D53F21DB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6A5C072-919B-4308-A48B-96DC0CBF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8F74E2F-7C51-4D72-96BA-528A50748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1B61F797-14BD-476F-B569-140E96CB6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A0235D8-BAC3-4440-8A9B-43D98243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DF2FD5C-3192-4646-91D2-C907BDC4C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ADD7F-243F-591E-CA98-B2E0C6A9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8608037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100" baseline="0">
                <a:ln w="15875">
                  <a:solidFill>
                    <a:srgbClr val="FFFFFF"/>
                  </a:solidFill>
                </a:ln>
              </a:rPr>
              <a:t>Tugas SQL Mini Project Theory pertemuan 5</a:t>
            </a:r>
            <a:br>
              <a:rPr lang="en-US" sz="2100" baseline="0">
                <a:ln w="15875">
                  <a:solidFill>
                    <a:srgbClr val="FFFFFF"/>
                  </a:solidFill>
                </a:ln>
              </a:rPr>
            </a:br>
            <a:r>
              <a:rPr lang="en-US" sz="2100" baseline="0">
                <a:ln w="15875">
                  <a:solidFill>
                    <a:srgbClr val="FFFFFF"/>
                  </a:solidFill>
                </a:ln>
              </a:rPr>
              <a:t>Haslena A. Siahaan</a:t>
            </a:r>
            <a:br>
              <a:rPr lang="en-US" sz="2100" baseline="0">
                <a:ln w="15875">
                  <a:solidFill>
                    <a:srgbClr val="FFFFFF"/>
                  </a:solidFill>
                </a:ln>
              </a:rPr>
            </a:br>
            <a:endParaRPr lang="en-US" sz="2100" baseline="0">
              <a:ln w="15875">
                <a:solidFill>
                  <a:srgbClr val="FFFFFF"/>
                </a:solidFill>
              </a:ln>
            </a:endParaRPr>
          </a:p>
        </p:txBody>
      </p:sp>
      <p:pic>
        <p:nvPicPr>
          <p:cNvPr id="5" name="Picture 4" descr="Close-up of hopscotch on a sidewalk">
            <a:extLst>
              <a:ext uri="{FF2B5EF4-FFF2-40B4-BE49-F238E27FC236}">
                <a16:creationId xmlns:a16="http://schemas.microsoft.com/office/drawing/2014/main" id="{60EF9DCF-A39F-B7BE-7DF3-837AD370F3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46" r="3704" b="2"/>
          <a:stretch>
            <a:fillRect/>
          </a:stretch>
        </p:blipFill>
        <p:spPr>
          <a:xfrm>
            <a:off x="2181719" y="2487066"/>
            <a:ext cx="4454381" cy="3118237"/>
          </a:xfrm>
          <a:prstGeom prst="rect">
            <a:avLst/>
          </a:prstGeom>
          <a:noFill/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17962E-D076-9C91-A65B-A0C4F62B0757}"/>
              </a:ext>
            </a:extLst>
          </p:cNvPr>
          <p:cNvSpPr txBox="1"/>
          <p:nvPr/>
        </p:nvSpPr>
        <p:spPr>
          <a:xfrm>
            <a:off x="7286175" y="2052116"/>
            <a:ext cx="3289986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</a:pPr>
            <a:r>
              <a:rPr lang="en-US" sz="1300" dirty="0"/>
              <a:t>Mini project </a:t>
            </a:r>
            <a:r>
              <a:rPr lang="en-US" sz="1300" dirty="0" err="1"/>
              <a:t>menggunakan</a:t>
            </a:r>
            <a:r>
              <a:rPr lang="en-US" sz="1300" dirty="0"/>
              <a:t> </a:t>
            </a:r>
            <a:r>
              <a:rPr lang="en-US" sz="1300" dirty="0" err="1"/>
              <a:t>konsep</a:t>
            </a:r>
            <a:r>
              <a:rPr lang="en-US" sz="1300" dirty="0"/>
              <a:t> SQL Sesi 1–4.</a:t>
            </a:r>
          </a:p>
          <a:p>
            <a:pPr defTabSz="9144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endParaRPr lang="en-US" sz="1300" dirty="0"/>
          </a:p>
          <a:p>
            <a:pPr lvl="0" defTabSz="9144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</a:pPr>
            <a:r>
              <a:rPr lang="en-US" sz="1300" dirty="0" err="1"/>
              <a:t>Pilih</a:t>
            </a:r>
            <a:r>
              <a:rPr lang="en-US" sz="1300" dirty="0"/>
              <a:t> </a:t>
            </a:r>
            <a:r>
              <a:rPr lang="en-US" sz="1300" dirty="0" err="1"/>
              <a:t>satu</a:t>
            </a:r>
            <a:r>
              <a:rPr lang="en-US" sz="1300" dirty="0"/>
              <a:t> business question </a:t>
            </a:r>
            <a:r>
              <a:rPr lang="en-US" sz="1300" dirty="0" err="1"/>
              <a:t>sederhana</a:t>
            </a:r>
            <a:r>
              <a:rPr lang="en-US" sz="1300" dirty="0"/>
              <a:t>.</a:t>
            </a: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</a:pPr>
            <a:r>
              <a:rPr lang="en-US" sz="1300" b="1" dirty="0"/>
              <a:t>Negara mana yang </a:t>
            </a:r>
            <a:r>
              <a:rPr lang="en-US" sz="1300" b="1" dirty="0" err="1"/>
              <a:t>memiliki</a:t>
            </a:r>
            <a:r>
              <a:rPr lang="en-US" sz="1300" b="1" dirty="0"/>
              <a:t> </a:t>
            </a:r>
            <a:r>
              <a:rPr lang="en-US" sz="1300" b="1" dirty="0" err="1"/>
              <a:t>jumlah</a:t>
            </a:r>
            <a:r>
              <a:rPr lang="en-US" sz="1300" b="1" dirty="0"/>
              <a:t> order paling </a:t>
            </a:r>
            <a:r>
              <a:rPr lang="en-US" sz="1300" b="1" dirty="0" err="1"/>
              <a:t>banyak</a:t>
            </a:r>
            <a:r>
              <a:rPr lang="en-US" sz="1300" b="1" dirty="0"/>
              <a:t> dan </a:t>
            </a:r>
            <a:r>
              <a:rPr lang="en-US" sz="1300" b="1" dirty="0" err="1"/>
              <a:t>bagaimana</a:t>
            </a:r>
            <a:r>
              <a:rPr lang="en-US" sz="1300" b="1" dirty="0"/>
              <a:t> </a:t>
            </a:r>
            <a:r>
              <a:rPr lang="en-US" sz="1300" b="1" dirty="0" err="1"/>
              <a:t>performa</a:t>
            </a:r>
            <a:r>
              <a:rPr lang="en-US" sz="1300" b="1" dirty="0"/>
              <a:t> order Complete-</a:t>
            </a:r>
            <a:r>
              <a:rPr lang="en-US" sz="1300" b="1" dirty="0" err="1"/>
              <a:t>nya</a:t>
            </a:r>
            <a:r>
              <a:rPr lang="en-US" sz="1300" b="1" dirty="0"/>
              <a:t>?</a:t>
            </a:r>
          </a:p>
          <a:p>
            <a:pPr defTabSz="9144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endParaRPr lang="en-US" sz="1300" dirty="0"/>
          </a:p>
          <a:p>
            <a:pPr lvl="0" defTabSz="9144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</a:pPr>
            <a:r>
              <a:rPr lang="en-US" sz="1300" dirty="0" err="1"/>
              <a:t>Gunakan</a:t>
            </a:r>
            <a:r>
              <a:rPr lang="en-US" sz="1300" dirty="0"/>
              <a:t> 3–5 query </a:t>
            </a:r>
            <a:r>
              <a:rPr lang="en-US" sz="1300" dirty="0" err="1"/>
              <a:t>untuk</a:t>
            </a:r>
            <a:r>
              <a:rPr lang="en-US" sz="1300" dirty="0"/>
              <a:t> </a:t>
            </a:r>
            <a:r>
              <a:rPr lang="en-US" sz="1300" dirty="0" err="1"/>
              <a:t>menjawabnya</a:t>
            </a:r>
            <a:r>
              <a:rPr lang="en-US" sz="1300" dirty="0"/>
              <a:t>.</a:t>
            </a:r>
          </a:p>
          <a:p>
            <a:pPr defTabSz="9144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endParaRPr lang="en-US" sz="1300" dirty="0"/>
          </a:p>
          <a:p>
            <a:pPr lvl="0" defTabSz="9144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</a:pPr>
            <a:r>
              <a:rPr lang="en-US" sz="1300" dirty="0" err="1"/>
              <a:t>Buat</a:t>
            </a:r>
            <a:r>
              <a:rPr lang="en-US" sz="1300" dirty="0"/>
              <a:t> </a:t>
            </a:r>
            <a:r>
              <a:rPr lang="en-US" sz="1300" dirty="0" err="1"/>
              <a:t>satu</a:t>
            </a:r>
            <a:r>
              <a:rPr lang="en-US" sz="1300" dirty="0"/>
              <a:t> dataset final yang </a:t>
            </a:r>
            <a:r>
              <a:rPr lang="en-US" sz="1300" dirty="0" err="1"/>
              <a:t>rapi</a:t>
            </a:r>
            <a:r>
              <a:rPr lang="en-US" sz="1300" dirty="0"/>
              <a:t>.</a:t>
            </a:r>
          </a:p>
          <a:p>
            <a:pPr defTabSz="9144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endParaRPr lang="en-US" sz="13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8564258-BA63-4452-B6A7-27E3497D9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83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3544A2-C55F-9544-5035-575213B08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886183"/>
              </p:ext>
            </p:extLst>
          </p:nvPr>
        </p:nvGraphicFramePr>
        <p:xfrm>
          <a:off x="1302774" y="1294853"/>
          <a:ext cx="9586452" cy="5179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3226">
                  <a:extLst>
                    <a:ext uri="{9D8B030D-6E8A-4147-A177-3AD203B41FA5}">
                      <a16:colId xmlns:a16="http://schemas.microsoft.com/office/drawing/2014/main" val="3126009962"/>
                    </a:ext>
                  </a:extLst>
                </a:gridCol>
                <a:gridCol w="4793226">
                  <a:extLst>
                    <a:ext uri="{9D8B030D-6E8A-4147-A177-3AD203B41FA5}">
                      <a16:colId xmlns:a16="http://schemas.microsoft.com/office/drawing/2014/main" val="2730171781"/>
                    </a:ext>
                  </a:extLst>
                </a:gridCol>
              </a:tblGrid>
              <a:tr h="774837">
                <a:tc>
                  <a:txBody>
                    <a:bodyPr/>
                    <a:lstStyle/>
                    <a:p>
                      <a:r>
                        <a:rPr lang="en-US" dirty="0"/>
                        <a:t>QUERY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069224"/>
                  </a:ext>
                </a:extLst>
              </a:tr>
              <a:tr h="4404852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u.country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COUNT(*) AS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total_order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`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bigquery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-public-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data.thelook_ecommerce.orders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 o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 `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bigquery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-public-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data.thelook_ecommerce.users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 u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ON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o.user_id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u.id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 BY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u.country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 BY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total_order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DESC;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37300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D0652A1-4AB0-A489-CBAF-2136CEA62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394" y="2231356"/>
            <a:ext cx="3924640" cy="256816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601A5A-F544-76DD-3E9D-BD5B96354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675555"/>
              </p:ext>
            </p:extLst>
          </p:nvPr>
        </p:nvGraphicFramePr>
        <p:xfrm>
          <a:off x="1314244" y="306711"/>
          <a:ext cx="958645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6451">
                  <a:extLst>
                    <a:ext uri="{9D8B030D-6E8A-4147-A177-3AD203B41FA5}">
                      <a16:colId xmlns:a16="http://schemas.microsoft.com/office/drawing/2014/main" val="651177628"/>
                    </a:ext>
                  </a:extLst>
                </a:gridCol>
              </a:tblGrid>
              <a:tr h="780178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Melihat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jumlah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order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berdasarkan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negara</a:t>
                      </a:r>
                      <a:endParaRPr lang="en-ID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endParaRPr lang="en-ID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68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2C46-F0ED-55AA-0910-560215918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BA4AFC-EB47-7F8C-A715-8079A88EE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786301"/>
              </p:ext>
            </p:extLst>
          </p:nvPr>
        </p:nvGraphicFramePr>
        <p:xfrm>
          <a:off x="1302774" y="1294853"/>
          <a:ext cx="9586452" cy="5179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3226">
                  <a:extLst>
                    <a:ext uri="{9D8B030D-6E8A-4147-A177-3AD203B41FA5}">
                      <a16:colId xmlns:a16="http://schemas.microsoft.com/office/drawing/2014/main" val="3126009962"/>
                    </a:ext>
                  </a:extLst>
                </a:gridCol>
                <a:gridCol w="4793226">
                  <a:extLst>
                    <a:ext uri="{9D8B030D-6E8A-4147-A177-3AD203B41FA5}">
                      <a16:colId xmlns:a16="http://schemas.microsoft.com/office/drawing/2014/main" val="2730171781"/>
                    </a:ext>
                  </a:extLst>
                </a:gridCol>
              </a:tblGrid>
              <a:tr h="774837">
                <a:tc>
                  <a:txBody>
                    <a:bodyPr/>
                    <a:lstStyle/>
                    <a:p>
                      <a:r>
                        <a:rPr lang="en-US" dirty="0"/>
                        <a:t>QUERY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069224"/>
                  </a:ext>
                </a:extLst>
              </a:tr>
              <a:tr h="4404852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u.country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COUNTIF(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o.status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'Complete') AS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complete_order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`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bigquery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-public-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data.thelook_ecommerce.orders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 o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 `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bigquery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-public-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data.thelook_ecommerce.users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 u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ON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o.user_id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u.id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 BY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u.country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 BY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complete_order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DESC;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3730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C594DC-128A-C850-A290-CA7D4B9AD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902244"/>
              </p:ext>
            </p:extLst>
          </p:nvPr>
        </p:nvGraphicFramePr>
        <p:xfrm>
          <a:off x="1314244" y="306711"/>
          <a:ext cx="958645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6451">
                  <a:extLst>
                    <a:ext uri="{9D8B030D-6E8A-4147-A177-3AD203B41FA5}">
                      <a16:colId xmlns:a16="http://schemas.microsoft.com/office/drawing/2014/main" val="651177628"/>
                    </a:ext>
                  </a:extLst>
                </a:gridCol>
              </a:tblGrid>
              <a:tr h="780178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Melihat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jumlah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Complete Order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berdasarkan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negara</a:t>
                      </a:r>
                      <a:endParaRPr lang="en-ID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endParaRPr lang="en-ID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6866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41F1EC3-9861-DB73-B776-3BBF4A3FD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866" y="2183022"/>
            <a:ext cx="3787468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0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F1C5-C5D7-7C9C-42BC-2DD3F498C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51ABA2-DCD9-3724-7D5C-BC26F45F6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84889"/>
              </p:ext>
            </p:extLst>
          </p:nvPr>
        </p:nvGraphicFramePr>
        <p:xfrm>
          <a:off x="1302774" y="1294853"/>
          <a:ext cx="9586452" cy="5179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3226">
                  <a:extLst>
                    <a:ext uri="{9D8B030D-6E8A-4147-A177-3AD203B41FA5}">
                      <a16:colId xmlns:a16="http://schemas.microsoft.com/office/drawing/2014/main" val="3126009962"/>
                    </a:ext>
                  </a:extLst>
                </a:gridCol>
                <a:gridCol w="4793226">
                  <a:extLst>
                    <a:ext uri="{9D8B030D-6E8A-4147-A177-3AD203B41FA5}">
                      <a16:colId xmlns:a16="http://schemas.microsoft.com/office/drawing/2014/main" val="2730171781"/>
                    </a:ext>
                  </a:extLst>
                </a:gridCol>
              </a:tblGrid>
              <a:tr h="774837">
                <a:tc>
                  <a:txBody>
                    <a:bodyPr/>
                    <a:lstStyle/>
                    <a:p>
                      <a:r>
                        <a:rPr lang="en-US" dirty="0"/>
                        <a:t>QUERY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069224"/>
                  </a:ext>
                </a:extLst>
              </a:tr>
              <a:tr h="4404852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SELECT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u.country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SUM(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o.num_of_item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total_item_sold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`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bigquery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-public-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data.thelook_ecommerce.orders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 o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 `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bigquery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-public-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data.thelook_ecommerce.users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 u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ON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o.user_id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u.id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 BY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u.country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 BY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total_item_sold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DESC;</a:t>
                      </a:r>
                      <a:endParaRPr lang="en-ID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3730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360FA9-2E1D-1B0A-B74E-DCB314220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674212"/>
              </p:ext>
            </p:extLst>
          </p:nvPr>
        </p:nvGraphicFramePr>
        <p:xfrm>
          <a:off x="1314244" y="306711"/>
          <a:ext cx="958645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6451">
                  <a:extLst>
                    <a:ext uri="{9D8B030D-6E8A-4147-A177-3AD203B41FA5}">
                      <a16:colId xmlns:a16="http://schemas.microsoft.com/office/drawing/2014/main" val="651177628"/>
                    </a:ext>
                  </a:extLst>
                </a:gridCol>
              </a:tblGrid>
              <a:tr h="780178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Menghitung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total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barang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terjual</a:t>
                      </a:r>
                      <a:endParaRPr lang="en-ID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endParaRPr lang="en-ID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6866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A9FEA2D-C2C0-04E0-707F-2B0DD366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571" y="2389499"/>
            <a:ext cx="3696020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0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DA9E8CC-6C73-43E6-AF09-B4B1083BC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6DFF5FD-BEF9-4B06-B7C2-58C5CFC9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9A18D1D-88E7-41EF-892F-C99BDEEE5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113E1A2F-E5D7-4888-BA8C-1CDDC7CE2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25649A-4F9D-4D90-8F0A-433D7A1F6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6F31202-25B1-43E6-94C1-CDCAFFE33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3375A-CC02-6136-DCF5-9E21019B30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585" r="-1" b="13936"/>
          <a:stretch>
            <a:fillRect/>
          </a:stretch>
        </p:blipFill>
        <p:spPr>
          <a:xfrm>
            <a:off x="1048760" y="1326381"/>
            <a:ext cx="10380133" cy="3436537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588507C5-B772-411D-B50E-0C075AD25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490720D-55BF-8F9F-0837-F4468941B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121" y="4626888"/>
            <a:ext cx="8525498" cy="2617974"/>
          </a:xfrm>
        </p:spPr>
        <p:txBody>
          <a:bodyPr>
            <a:normAutofit/>
          </a:bodyPr>
          <a:lstStyle/>
          <a:p>
            <a:pPr lvl="0" algn="l"/>
            <a:r>
              <a:rPr lang="en-ID" sz="1200" dirty="0"/>
              <a:t>China </a:t>
            </a:r>
            <a:r>
              <a:rPr lang="en-ID" sz="1200" dirty="0" err="1"/>
              <a:t>Menjadi</a:t>
            </a:r>
            <a:r>
              <a:rPr lang="en-ID" sz="1200" dirty="0"/>
              <a:t> Pasar </a:t>
            </a:r>
            <a:r>
              <a:rPr lang="en-ID" sz="1200" dirty="0" err="1"/>
              <a:t>Terbesar</a:t>
            </a:r>
            <a:r>
              <a:rPr lang="en-ID" sz="1200" dirty="0"/>
              <a:t>. China </a:t>
            </a:r>
            <a:r>
              <a:rPr lang="en-ID" sz="1200" dirty="0" err="1"/>
              <a:t>memimpin</a:t>
            </a:r>
            <a:r>
              <a:rPr lang="en-ID" sz="1200" dirty="0"/>
              <a:t> di </a:t>
            </a:r>
            <a:r>
              <a:rPr lang="en-ID" sz="1200" dirty="0" err="1"/>
              <a:t>semua</a:t>
            </a:r>
            <a:r>
              <a:rPr lang="en-ID" sz="1200" dirty="0"/>
              <a:t> </a:t>
            </a:r>
            <a:r>
              <a:rPr lang="en-ID" sz="1200" dirty="0" err="1"/>
              <a:t>kategori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pesanan</a:t>
            </a:r>
            <a:r>
              <a:rPr lang="en-ID" sz="1200" dirty="0"/>
              <a:t> </a:t>
            </a:r>
            <a:r>
              <a:rPr lang="en-ID" sz="1200" dirty="0" err="1"/>
              <a:t>terbanyak</a:t>
            </a:r>
            <a:r>
              <a:rPr lang="en-ID" sz="1200" dirty="0"/>
              <a:t> (33.900 order) dan </a:t>
            </a:r>
            <a:r>
              <a:rPr lang="en-ID" sz="1200" dirty="0" err="1"/>
              <a:t>barang</a:t>
            </a:r>
            <a:r>
              <a:rPr lang="en-ID" sz="1200" dirty="0"/>
              <a:t> </a:t>
            </a:r>
            <a:r>
              <a:rPr lang="en-ID" sz="1200" dirty="0" err="1"/>
              <a:t>terjual</a:t>
            </a:r>
            <a:r>
              <a:rPr lang="en-ID" sz="1200" dirty="0"/>
              <a:t> </a:t>
            </a:r>
            <a:r>
              <a:rPr lang="en-ID" sz="1200" dirty="0" err="1"/>
              <a:t>terbanyak</a:t>
            </a:r>
            <a:r>
              <a:rPr lang="en-ID" sz="1200" dirty="0"/>
              <a:t> (54.240 </a:t>
            </a:r>
            <a:r>
              <a:rPr lang="en-ID" sz="1200" dirty="0" err="1"/>
              <a:t>barang</a:t>
            </a:r>
            <a:r>
              <a:rPr lang="en-ID" sz="1200" dirty="0"/>
              <a:t>).</a:t>
            </a:r>
          </a:p>
          <a:p>
            <a:pPr lvl="0" algn="l"/>
            <a:r>
              <a:rPr lang="en-ID" sz="1200" dirty="0"/>
              <a:t>Top 3 </a:t>
            </a:r>
            <a:r>
              <a:rPr lang="en-ID" sz="1200" dirty="0" err="1"/>
              <a:t>Menguasai</a:t>
            </a:r>
            <a:r>
              <a:rPr lang="en-ID" sz="1200" dirty="0"/>
              <a:t> Penjualan . Tiga negara </a:t>
            </a:r>
            <a:r>
              <a:rPr lang="en-ID" sz="1200" dirty="0" err="1"/>
              <a:t>teratas</a:t>
            </a:r>
            <a:r>
              <a:rPr lang="en-ID" sz="1200" dirty="0"/>
              <a:t> (China, Amerika </a:t>
            </a:r>
            <a:r>
              <a:rPr lang="en-ID" sz="1200" dirty="0" err="1"/>
              <a:t>Serikat</a:t>
            </a:r>
            <a:r>
              <a:rPr lang="en-ID" sz="1200" dirty="0"/>
              <a:t>, dan </a:t>
            </a:r>
            <a:r>
              <a:rPr lang="en-ID" sz="1200" dirty="0" err="1"/>
              <a:t>Brasil</a:t>
            </a:r>
            <a:r>
              <a:rPr lang="en-ID" sz="1200" dirty="0"/>
              <a:t>) </a:t>
            </a:r>
            <a:r>
              <a:rPr lang="en-ID" sz="1200" dirty="0" err="1"/>
              <a:t>menyumbang</a:t>
            </a:r>
            <a:r>
              <a:rPr lang="en-ID" sz="1200" dirty="0"/>
              <a:t> </a:t>
            </a:r>
            <a:r>
              <a:rPr lang="en-ID" sz="1200" dirty="0" err="1"/>
              <a:t>mayoritas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total </a:t>
            </a:r>
            <a:r>
              <a:rPr lang="en-ID" sz="1200" dirty="0" err="1"/>
              <a:t>seluruh</a:t>
            </a:r>
            <a:r>
              <a:rPr lang="en-ID" sz="1200" dirty="0"/>
              <a:t> </a:t>
            </a:r>
            <a:r>
              <a:rPr lang="en-ID" sz="1200" dirty="0" err="1"/>
              <a:t>pesanan</a:t>
            </a:r>
            <a:r>
              <a:rPr lang="en-ID" sz="1200" dirty="0"/>
              <a:t>.</a:t>
            </a:r>
          </a:p>
          <a:p>
            <a:pPr lvl="0" algn="l"/>
            <a:r>
              <a:rPr lang="en-ID" sz="1200" dirty="0" err="1"/>
              <a:t>Rasio</a:t>
            </a:r>
            <a:r>
              <a:rPr lang="en-ID" sz="1200" dirty="0"/>
              <a:t> </a:t>
            </a:r>
            <a:r>
              <a:rPr lang="en-ID" sz="1200" dirty="0" err="1"/>
              <a:t>Pesanan</a:t>
            </a:r>
            <a:r>
              <a:rPr lang="en-ID" sz="1200" dirty="0"/>
              <a:t> </a:t>
            </a:r>
            <a:r>
              <a:rPr lang="en-ID" sz="1200" dirty="0" err="1"/>
              <a:t>Selesai</a:t>
            </a:r>
            <a:r>
              <a:rPr lang="en-ID" sz="1200" dirty="0"/>
              <a:t> Sama . </a:t>
            </a:r>
            <a:r>
              <a:rPr lang="en-ID" sz="1200" dirty="0" err="1"/>
              <a:t>Semua</a:t>
            </a:r>
            <a:r>
              <a:rPr lang="en-ID" sz="1200" dirty="0"/>
              <a:t> negara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pola</a:t>
            </a:r>
            <a:r>
              <a:rPr lang="en-ID" sz="1200" dirty="0"/>
              <a:t> yang </a:t>
            </a:r>
            <a:r>
              <a:rPr lang="en-ID" sz="1200" dirty="0" err="1"/>
              <a:t>mirip</a:t>
            </a:r>
            <a:r>
              <a:rPr lang="en-ID" sz="1200" dirty="0"/>
              <a:t>, </a:t>
            </a:r>
            <a:r>
              <a:rPr lang="en-ID" sz="1200" dirty="0" err="1"/>
              <a:t>yaitu</a:t>
            </a:r>
            <a:r>
              <a:rPr lang="en-ID" sz="1200" dirty="0"/>
              <a:t> </a:t>
            </a:r>
            <a:r>
              <a:rPr lang="en-ID" sz="1200" dirty="0" err="1"/>
              <a:t>sekitar</a:t>
            </a:r>
            <a:r>
              <a:rPr lang="en-ID" sz="1200" dirty="0"/>
              <a:t> 1 </a:t>
            </a:r>
            <a:r>
              <a:rPr lang="en-ID" sz="1200" dirty="0" err="1"/>
              <a:t>dari</a:t>
            </a:r>
            <a:r>
              <a:rPr lang="en-ID" sz="1200" dirty="0"/>
              <a:t> 3 </a:t>
            </a:r>
            <a:r>
              <a:rPr lang="en-ID" sz="1200" dirty="0" err="1"/>
              <a:t>pesanan</a:t>
            </a:r>
            <a:r>
              <a:rPr lang="en-ID" sz="1200" dirty="0"/>
              <a:t> (</a:t>
            </a:r>
            <a:r>
              <a:rPr lang="en-ID" sz="1200" dirty="0" err="1"/>
              <a:t>sekitar</a:t>
            </a:r>
            <a:r>
              <a:rPr lang="en-ID" sz="1200" dirty="0"/>
              <a:t> 31%) yang </a:t>
            </a:r>
            <a:r>
              <a:rPr lang="en-ID" sz="1200" dirty="0" err="1"/>
              <a:t>berhasil</a:t>
            </a:r>
            <a:r>
              <a:rPr lang="en-ID" sz="1200" dirty="0"/>
              <a:t> </a:t>
            </a:r>
            <a:r>
              <a:rPr lang="en-ID" sz="1200" dirty="0" err="1"/>
              <a:t>selesai</a:t>
            </a:r>
            <a:r>
              <a:rPr lang="en-ID" sz="1200" dirty="0"/>
              <a:t> (</a:t>
            </a:r>
            <a:r>
              <a:rPr lang="en-ID" sz="1200" i="1" dirty="0"/>
              <a:t>Complete</a:t>
            </a:r>
            <a:r>
              <a:rPr lang="en-ID" sz="1200" dirty="0"/>
              <a:t>).</a:t>
            </a:r>
          </a:p>
          <a:p>
            <a:endParaRPr lang="en-ID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7EFF80-65EA-F224-191E-D2B06FC18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729981"/>
              </p:ext>
            </p:extLst>
          </p:nvPr>
        </p:nvGraphicFramePr>
        <p:xfrm>
          <a:off x="1048761" y="719666"/>
          <a:ext cx="1029531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5318">
                  <a:extLst>
                    <a:ext uri="{9D8B030D-6E8A-4147-A177-3AD203B41FA5}">
                      <a16:colId xmlns:a16="http://schemas.microsoft.com/office/drawing/2014/main" val="1323599417"/>
                    </a:ext>
                  </a:extLst>
                </a:gridCol>
              </a:tblGrid>
              <a:tr h="283224">
                <a:tc>
                  <a:txBody>
                    <a:bodyPr/>
                    <a:lstStyle/>
                    <a:p>
                      <a:r>
                        <a:rPr lang="en-US" dirty="0"/>
                        <a:t>Dataset Query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32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37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89663-6DC7-C276-64B5-CF074F2C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276B9A5-2463-77FD-156D-8700422CF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C6BBC78-CB5A-8E9E-2297-83702FD10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E38D3D8-9E76-73AB-FBF3-FA29F185F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C05B3561-6C86-F7E8-ECE4-989978E39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44FFBF1-B221-46DC-30CB-557C0382C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50F2FB-09C2-F41E-2C96-C68671211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5555496-DDC7-4655-AC93-9DD10F380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9335A-2BB4-F054-AA2D-77719F2789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803" y="1534677"/>
            <a:ext cx="8190197" cy="438380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6A47A8-A278-E7BB-48DC-7B40A6799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586855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091200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VISUALIZATION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54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550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43</TotalTime>
  <Words>354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MS Shell Dlg 2</vt:lpstr>
      <vt:lpstr>Wingdings</vt:lpstr>
      <vt:lpstr>Wingdings 3</vt:lpstr>
      <vt:lpstr>Madison</vt:lpstr>
      <vt:lpstr>Tugas SQL Mini Project Theory pertemuan 5 Haslena A. Siahaan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Lena siahaan</dc:creator>
  <cp:lastModifiedBy>Lena siahaan</cp:lastModifiedBy>
  <cp:revision>9</cp:revision>
  <dcterms:created xsi:type="dcterms:W3CDTF">2026-09-16T08:29:11Z</dcterms:created>
  <dcterms:modified xsi:type="dcterms:W3CDTF">2026-09-16T09:13:01Z</dcterms:modified>
</cp:coreProperties>
</file>